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exend Deca" charset="1" panose="00000000000000000000"/>
      <p:regular r:id="rId22"/>
    </p:embeddedFont>
    <p:embeddedFont>
      <p:font typeface="Futura Display" charset="1" panose="020B0504050904050C04"/>
      <p:regular r:id="rId23"/>
    </p:embeddedFont>
    <p:embeddedFont>
      <p:font typeface="Roboto Bold" charset="1" panose="02000000000000000000"/>
      <p:regular r:id="rId24"/>
    </p:embeddedFont>
    <p:embeddedFont>
      <p:font typeface="Roboto" charset="1" panose="02000000000000000000"/>
      <p:regular r:id="rId25"/>
    </p:embeddedFont>
    <p:embeddedFont>
      <p:font typeface="Roca One" charset="1" panose="00000500000000000000"/>
      <p:regular r:id="rId26"/>
    </p:embeddedFont>
    <p:embeddedFont>
      <p:font typeface="Canva Sans Bold" charset="1" panose="020B0803030501040103"/>
      <p:regular r:id="rId27"/>
    </p:embeddedFont>
    <p:embeddedFont>
      <p:font typeface="Canva Sans" charset="1" panose="020B05030305010401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60000"/>
          </a:blip>
          <a:stretch>
            <a:fillRect/>
          </a:stretch>
        </p:blipFill>
        <p:spPr>
          <a:xfrm rot="0">
            <a:off x="-2285506" y="-4771437"/>
            <a:ext cx="22859012" cy="17585432"/>
          </a:xfrm>
          <a:prstGeom prst="rect">
            <a:avLst/>
          </a:prstGeom>
        </p:spPr>
      </p:pic>
      <p:grpSp>
        <p:nvGrpSpPr>
          <p:cNvPr name="Group 3" id="3"/>
          <p:cNvGrpSpPr/>
          <p:nvPr/>
        </p:nvGrpSpPr>
        <p:grpSpPr>
          <a:xfrm rot="0">
            <a:off x="1028700" y="1887245"/>
            <a:ext cx="16230600" cy="4766816"/>
            <a:chOff x="0" y="0"/>
            <a:chExt cx="3655013" cy="1073452"/>
          </a:xfrm>
        </p:grpSpPr>
        <p:sp>
          <p:nvSpPr>
            <p:cNvPr name="Freeform 4" id="4"/>
            <p:cNvSpPr/>
            <p:nvPr/>
          </p:nvSpPr>
          <p:spPr>
            <a:xfrm flipH="false" flipV="false" rot="0">
              <a:off x="0" y="0"/>
              <a:ext cx="3655013" cy="1073452"/>
            </a:xfrm>
            <a:custGeom>
              <a:avLst/>
              <a:gdLst/>
              <a:ahLst/>
              <a:cxnLst/>
              <a:rect r="r" b="b" t="t" l="l"/>
              <a:pathLst>
                <a:path h="1073452" w="3655013">
                  <a:moveTo>
                    <a:pt x="24327" y="0"/>
                  </a:moveTo>
                  <a:lnTo>
                    <a:pt x="3630686" y="0"/>
                  </a:lnTo>
                  <a:cubicBezTo>
                    <a:pt x="3644121" y="0"/>
                    <a:pt x="3655013" y="10891"/>
                    <a:pt x="3655013" y="24327"/>
                  </a:cubicBezTo>
                  <a:lnTo>
                    <a:pt x="3655013" y="1049125"/>
                  </a:lnTo>
                  <a:cubicBezTo>
                    <a:pt x="3655013" y="1062561"/>
                    <a:pt x="3644121" y="1073452"/>
                    <a:pt x="3630686" y="1073452"/>
                  </a:cubicBezTo>
                  <a:lnTo>
                    <a:pt x="24327" y="1073452"/>
                  </a:lnTo>
                  <a:cubicBezTo>
                    <a:pt x="10891" y="1073452"/>
                    <a:pt x="0" y="1062561"/>
                    <a:pt x="0" y="1049125"/>
                  </a:cubicBezTo>
                  <a:lnTo>
                    <a:pt x="0" y="24327"/>
                  </a:lnTo>
                  <a:cubicBezTo>
                    <a:pt x="0" y="10891"/>
                    <a:pt x="10891" y="0"/>
                    <a:pt x="24327" y="0"/>
                  </a:cubicBezTo>
                  <a:close/>
                </a:path>
              </a:pathLst>
            </a:custGeom>
            <a:solidFill>
              <a:srgbClr val="31356E"/>
            </a:solidFill>
          </p:spPr>
        </p:sp>
        <p:sp>
          <p:nvSpPr>
            <p:cNvPr name="TextBox 5" id="5"/>
            <p:cNvSpPr txBox="true"/>
            <p:nvPr/>
          </p:nvSpPr>
          <p:spPr>
            <a:xfrm>
              <a:off x="0" y="-38100"/>
              <a:ext cx="3655013" cy="1111552"/>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652563" y="2006761"/>
            <a:ext cx="14982874" cy="4504425"/>
          </a:xfrm>
          <a:prstGeom prst="rect">
            <a:avLst/>
          </a:prstGeom>
        </p:spPr>
        <p:txBody>
          <a:bodyPr anchor="t" rtlCol="false" tIns="0" lIns="0" bIns="0" rIns="0">
            <a:spAutoFit/>
          </a:bodyPr>
          <a:lstStyle/>
          <a:p>
            <a:pPr algn="ctr">
              <a:lnSpc>
                <a:spcPts val="8959"/>
              </a:lnSpc>
            </a:pPr>
            <a:r>
              <a:rPr lang="en-US" sz="6399">
                <a:solidFill>
                  <a:srgbClr val="FFFFFF"/>
                </a:solidFill>
                <a:latin typeface="Lexend Deca"/>
                <a:ea typeface="Lexend Deca"/>
                <a:cs typeface="Lexend Deca"/>
                <a:sym typeface="Lexend Deca"/>
              </a:rPr>
              <a:t>IMPROVING EMPLOYEE RETENTION BY PREDICTING EMPLOYEE ATTRITION USING MACHINE LEARNING</a:t>
            </a:r>
          </a:p>
        </p:txBody>
      </p:sp>
      <p:sp>
        <p:nvSpPr>
          <p:cNvPr name="TextBox 7" id="7"/>
          <p:cNvSpPr txBox="true"/>
          <p:nvPr/>
        </p:nvSpPr>
        <p:spPr>
          <a:xfrm rot="0">
            <a:off x="5263878" y="7677997"/>
            <a:ext cx="7760243" cy="738346"/>
          </a:xfrm>
          <a:prstGeom prst="rect">
            <a:avLst/>
          </a:prstGeom>
        </p:spPr>
        <p:txBody>
          <a:bodyPr anchor="t" rtlCol="false" tIns="0" lIns="0" bIns="0" rIns="0">
            <a:spAutoFit/>
          </a:bodyPr>
          <a:lstStyle/>
          <a:p>
            <a:pPr algn="ctr">
              <a:lnSpc>
                <a:spcPts val="6028"/>
              </a:lnSpc>
            </a:pPr>
            <a:r>
              <a:rPr lang="en-US" sz="4306">
                <a:solidFill>
                  <a:srgbClr val="31356E"/>
                </a:solidFill>
                <a:latin typeface="Lexend Deca"/>
                <a:ea typeface="Lexend Deca"/>
                <a:cs typeface="Lexend Deca"/>
                <a:sym typeface="Lexend Deca"/>
              </a:rPr>
              <a:t>FASYA MELIA INDAHSARI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7166986"/>
            <a:chOff x="0" y="0"/>
            <a:chExt cx="4356256" cy="1613953"/>
          </a:xfrm>
        </p:grpSpPr>
        <p:sp>
          <p:nvSpPr>
            <p:cNvPr name="Freeform 3" id="3"/>
            <p:cNvSpPr/>
            <p:nvPr/>
          </p:nvSpPr>
          <p:spPr>
            <a:xfrm flipH="false" flipV="false" rot="0">
              <a:off x="0" y="0"/>
              <a:ext cx="4356255" cy="1613953"/>
            </a:xfrm>
            <a:custGeom>
              <a:avLst/>
              <a:gdLst/>
              <a:ahLst/>
              <a:cxnLst/>
              <a:rect r="r" b="b" t="t" l="l"/>
              <a:pathLst>
                <a:path h="1613953" w="4356255">
                  <a:moveTo>
                    <a:pt x="0" y="0"/>
                  </a:moveTo>
                  <a:lnTo>
                    <a:pt x="4356255" y="0"/>
                  </a:lnTo>
                  <a:lnTo>
                    <a:pt x="4356255" y="1613953"/>
                  </a:lnTo>
                  <a:lnTo>
                    <a:pt x="0" y="1613953"/>
                  </a:lnTo>
                  <a:close/>
                </a:path>
              </a:pathLst>
            </a:custGeom>
            <a:solidFill>
              <a:srgbClr val="31356E"/>
            </a:solidFill>
          </p:spPr>
        </p:sp>
        <p:sp>
          <p:nvSpPr>
            <p:cNvPr name="TextBox 4" id="4"/>
            <p:cNvSpPr txBox="true"/>
            <p:nvPr/>
          </p:nvSpPr>
          <p:spPr>
            <a:xfrm>
              <a:off x="0" y="-38100"/>
              <a:ext cx="4356256" cy="165205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5272885" y="811699"/>
            <a:ext cx="11986415" cy="1687677"/>
          </a:xfrm>
          <a:prstGeom prst="rect">
            <a:avLst/>
          </a:prstGeom>
        </p:spPr>
        <p:txBody>
          <a:bodyPr anchor="t" rtlCol="false" tIns="0" lIns="0" bIns="0" rIns="0">
            <a:spAutoFit/>
          </a:bodyPr>
          <a:lstStyle/>
          <a:p>
            <a:pPr algn="ctr">
              <a:lnSpc>
                <a:spcPts val="12435"/>
              </a:lnSpc>
            </a:pPr>
            <a:r>
              <a:rPr lang="en-US" sz="12954">
                <a:solidFill>
                  <a:srgbClr val="FFFFFF"/>
                </a:solidFill>
                <a:latin typeface="Futura Display"/>
                <a:ea typeface="Futura Display"/>
                <a:cs typeface="Futura Display"/>
                <a:sym typeface="Futura Display"/>
              </a:rPr>
              <a:t>INTRODUCTION</a:t>
            </a:r>
          </a:p>
        </p:txBody>
      </p:sp>
      <p:sp>
        <p:nvSpPr>
          <p:cNvPr name="TextBox 6" id="6"/>
          <p:cNvSpPr txBox="true"/>
          <p:nvPr/>
        </p:nvSpPr>
        <p:spPr>
          <a:xfrm rot="0">
            <a:off x="5799028" y="2896465"/>
            <a:ext cx="10934129" cy="1265025"/>
          </a:xfrm>
          <a:prstGeom prst="rect">
            <a:avLst/>
          </a:prstGeom>
        </p:spPr>
        <p:txBody>
          <a:bodyPr anchor="t" rtlCol="false" tIns="0" lIns="0" bIns="0" rIns="0">
            <a:spAutoFit/>
          </a:bodyPr>
          <a:lstStyle/>
          <a:p>
            <a:pPr algn="ctr">
              <a:lnSpc>
                <a:spcPts val="5156"/>
              </a:lnSpc>
              <a:spcBef>
                <a:spcPct val="0"/>
              </a:spcBef>
            </a:pPr>
            <a:r>
              <a:rPr lang="en-US" sz="3683">
                <a:solidFill>
                  <a:srgbClr val="FFFFFF"/>
                </a:solidFill>
                <a:latin typeface="Lexend Deca"/>
                <a:ea typeface="Lexend Deca"/>
                <a:cs typeface="Lexend Deca"/>
                <a:sym typeface="Lexend Deca"/>
              </a:rPr>
              <a:t>Objective: Analyze employee data to predict attrition and improve retention strategies.</a:t>
            </a:r>
          </a:p>
        </p:txBody>
      </p:sp>
      <p:sp>
        <p:nvSpPr>
          <p:cNvPr name="TextBox 7" id="7"/>
          <p:cNvSpPr txBox="true"/>
          <p:nvPr/>
        </p:nvSpPr>
        <p:spPr>
          <a:xfrm rot="0">
            <a:off x="2389033" y="7286255"/>
            <a:ext cx="13509935" cy="1971905"/>
          </a:xfrm>
          <a:prstGeom prst="rect">
            <a:avLst/>
          </a:prstGeom>
        </p:spPr>
        <p:txBody>
          <a:bodyPr anchor="t" rtlCol="false" tIns="0" lIns="0" bIns="0" rIns="0">
            <a:spAutoFit/>
          </a:bodyPr>
          <a:lstStyle/>
          <a:p>
            <a:pPr algn="ctr">
              <a:lnSpc>
                <a:spcPts val="5273"/>
              </a:lnSpc>
              <a:spcBef>
                <a:spcPct val="0"/>
              </a:spcBef>
            </a:pPr>
            <a:r>
              <a:rPr lang="en-US" sz="3766">
                <a:solidFill>
                  <a:srgbClr val="31356E"/>
                </a:solidFill>
                <a:latin typeface="Lexend Deca"/>
                <a:ea typeface="Lexend Deca"/>
                <a:cs typeface="Lexend Deca"/>
                <a:sym typeface="Lexend Deca"/>
              </a:rPr>
              <a:t>Prevent more employees from resigning by identifying those likely to leave and implementing targeted retention strategies to keep them within the company.</a:t>
            </a:r>
          </a:p>
        </p:txBody>
      </p:sp>
      <p:pic>
        <p:nvPicPr>
          <p:cNvPr name="Picture 8" id="8"/>
          <p:cNvPicPr>
            <a:picLocks noChangeAspect="true"/>
          </p:cNvPicPr>
          <p:nvPr/>
        </p:nvPicPr>
        <p:blipFill>
          <a:blip r:embed="rId2"/>
          <a:stretch>
            <a:fillRect/>
          </a:stretch>
        </p:blipFill>
        <p:spPr>
          <a:xfrm rot="0">
            <a:off x="-785947" y="1875209"/>
            <a:ext cx="5093535" cy="5096099"/>
          </a:xfrm>
          <a:prstGeom prst="rect">
            <a:avLst/>
          </a:prstGeom>
        </p:spPr>
      </p:pic>
      <p:sp>
        <p:nvSpPr>
          <p:cNvPr name="TextBox 9" id="9"/>
          <p:cNvSpPr txBox="true"/>
          <p:nvPr/>
        </p:nvSpPr>
        <p:spPr>
          <a:xfrm rot="0">
            <a:off x="5799028" y="4561540"/>
            <a:ext cx="10934129" cy="1265025"/>
          </a:xfrm>
          <a:prstGeom prst="rect">
            <a:avLst/>
          </a:prstGeom>
        </p:spPr>
        <p:txBody>
          <a:bodyPr anchor="t" rtlCol="false" tIns="0" lIns="0" bIns="0" rIns="0">
            <a:spAutoFit/>
          </a:bodyPr>
          <a:lstStyle/>
          <a:p>
            <a:pPr algn="ctr">
              <a:lnSpc>
                <a:spcPts val="5156"/>
              </a:lnSpc>
              <a:spcBef>
                <a:spcPct val="0"/>
              </a:spcBef>
            </a:pPr>
            <a:r>
              <a:rPr lang="en-US" sz="3683">
                <a:solidFill>
                  <a:srgbClr val="FFFFFF"/>
                </a:solidFill>
                <a:latin typeface="Lexend Deca"/>
                <a:ea typeface="Lexend Deca"/>
                <a:cs typeface="Lexend Deca"/>
                <a:sym typeface="Lexend Deca"/>
              </a:rPr>
              <a:t>Tools &amp; Techniques: Python, Pandas, Matplotlib, Seaborn, Machine Learning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238125"/>
            <a:ext cx="15967105" cy="1453833"/>
          </a:xfrm>
          <a:prstGeom prst="rect">
            <a:avLst/>
          </a:prstGeom>
        </p:spPr>
        <p:txBody>
          <a:bodyPr anchor="t" rtlCol="false" tIns="0" lIns="0" bIns="0" rIns="0">
            <a:spAutoFit/>
          </a:bodyPr>
          <a:lstStyle/>
          <a:p>
            <a:pPr algn="ctr">
              <a:lnSpc>
                <a:spcPts val="10692"/>
              </a:lnSpc>
            </a:pPr>
            <a:r>
              <a:rPr lang="en-US" sz="11138">
                <a:solidFill>
                  <a:srgbClr val="FFFFFF"/>
                </a:solidFill>
                <a:latin typeface="Futura Display"/>
                <a:ea typeface="Futura Display"/>
                <a:cs typeface="Futura Display"/>
                <a:sym typeface="Futura Display"/>
              </a:rPr>
              <a:t>EDA AND DATA PREPROCESSING</a:t>
            </a:r>
          </a:p>
        </p:txBody>
      </p:sp>
      <p:sp>
        <p:nvSpPr>
          <p:cNvPr name="TextBox 6" id="6"/>
          <p:cNvSpPr txBox="true"/>
          <p:nvPr/>
        </p:nvSpPr>
        <p:spPr>
          <a:xfrm rot="0">
            <a:off x="0" y="2270571"/>
            <a:ext cx="18288000" cy="7187428"/>
          </a:xfrm>
          <a:prstGeom prst="rect">
            <a:avLst/>
          </a:prstGeom>
        </p:spPr>
        <p:txBody>
          <a:bodyPr anchor="t" rtlCol="false" tIns="0" lIns="0" bIns="0" rIns="0">
            <a:spAutoFit/>
          </a:bodyPr>
          <a:lstStyle/>
          <a:p>
            <a:pPr algn="l">
              <a:lnSpc>
                <a:spcPts val="5880"/>
              </a:lnSpc>
            </a:pPr>
            <a:r>
              <a:rPr lang="en-US" sz="4200" spc="4" b="true">
                <a:solidFill>
                  <a:srgbClr val="000000"/>
                </a:solidFill>
                <a:latin typeface="Roboto Bold"/>
                <a:ea typeface="Roboto Bold"/>
                <a:cs typeface="Roboto Bold"/>
                <a:sym typeface="Roboto Bold"/>
              </a:rPr>
              <a:t>Missing Value</a:t>
            </a:r>
            <a:r>
              <a:rPr lang="en-US" b="true" sz="4200" spc="4">
                <a:solidFill>
                  <a:srgbClr val="000000"/>
                </a:solidFill>
                <a:latin typeface="Roboto Bold"/>
                <a:ea typeface="Roboto Bold"/>
                <a:cs typeface="Roboto Bold"/>
                <a:sym typeface="Roboto Bold"/>
              </a:rPr>
              <a:t>s Detected:</a:t>
            </a:r>
          </a:p>
          <a:p>
            <a:pPr algn="l" marL="777240" indent="-388620" lvl="1">
              <a:lnSpc>
                <a:spcPts val="5040"/>
              </a:lnSpc>
              <a:buFont typeface="Arial"/>
              <a:buChar char="•"/>
            </a:pPr>
            <a:r>
              <a:rPr lang="en-US" sz="3600" spc="3">
                <a:solidFill>
                  <a:srgbClr val="000000"/>
                </a:solidFill>
                <a:latin typeface="Roboto"/>
                <a:ea typeface="Roboto"/>
                <a:cs typeface="Roboto"/>
                <a:sym typeface="Roboto"/>
              </a:rPr>
              <a:t>Columns Affected: Kepuasan Pelanggan, Jumlah Keikutsertaan Projek, Keterlambatan Sebulan Terakhir, Jumlah Ketidakhadiran, Alasan Resign, Ikut Program LOP.</a:t>
            </a:r>
          </a:p>
          <a:p>
            <a:pPr algn="l">
              <a:lnSpc>
                <a:spcPts val="5880"/>
              </a:lnSpc>
            </a:pPr>
          </a:p>
          <a:p>
            <a:pPr algn="l">
              <a:lnSpc>
                <a:spcPts val="5880"/>
              </a:lnSpc>
              <a:spcBef>
                <a:spcPct val="0"/>
              </a:spcBef>
            </a:pPr>
            <a:r>
              <a:rPr lang="en-US" b="true" sz="4200" spc="4">
                <a:solidFill>
                  <a:srgbClr val="000000"/>
                </a:solidFill>
                <a:latin typeface="Roboto Bold"/>
                <a:ea typeface="Roboto Bold"/>
                <a:cs typeface="Roboto Bold"/>
                <a:sym typeface="Roboto Bold"/>
              </a:rPr>
              <a:t>H</a:t>
            </a:r>
            <a:r>
              <a:rPr lang="en-US" b="true" sz="4200" spc="4">
                <a:solidFill>
                  <a:srgbClr val="000000"/>
                </a:solidFill>
                <a:latin typeface="Roboto Bold"/>
                <a:ea typeface="Roboto Bold"/>
                <a:cs typeface="Roboto Bold"/>
                <a:sym typeface="Roboto Bold"/>
              </a:rPr>
              <a:t>andling Missing Values:</a:t>
            </a:r>
          </a:p>
          <a:p>
            <a:pPr algn="l" marL="777240" indent="-388620" lvl="1">
              <a:lnSpc>
                <a:spcPts val="5040"/>
              </a:lnSpc>
              <a:spcBef>
                <a:spcPct val="0"/>
              </a:spcBef>
              <a:buFont typeface="Arial"/>
              <a:buChar char="•"/>
            </a:pPr>
            <a:r>
              <a:rPr lang="en-US" sz="3600" spc="3">
                <a:solidFill>
                  <a:srgbClr val="000000"/>
                </a:solidFill>
                <a:latin typeface="Roboto"/>
                <a:ea typeface="Roboto"/>
                <a:cs typeface="Roboto"/>
                <a:sym typeface="Roboto"/>
              </a:rPr>
              <a:t>Kepuasan Pelanggan, Jumlah Keikutsertaan Pr</a:t>
            </a:r>
            <a:r>
              <a:rPr lang="en-US" sz="3600" spc="3">
                <a:solidFill>
                  <a:srgbClr val="000000"/>
                </a:solidFill>
                <a:latin typeface="Roboto"/>
                <a:ea typeface="Roboto"/>
                <a:cs typeface="Roboto"/>
                <a:sym typeface="Roboto"/>
              </a:rPr>
              <a:t>oje</a:t>
            </a:r>
            <a:r>
              <a:rPr lang="en-US" sz="3600" spc="3">
                <a:solidFill>
                  <a:srgbClr val="000000"/>
                </a:solidFill>
                <a:latin typeface="Roboto"/>
                <a:ea typeface="Roboto"/>
                <a:cs typeface="Roboto"/>
                <a:sym typeface="Roboto"/>
              </a:rPr>
              <a:t>k, Keterlambatan Sebulan Terakhir, Jumlah Ketidakhadiran: Replaced null values with the median to avoid the influence of outliers.</a:t>
            </a:r>
          </a:p>
          <a:p>
            <a:pPr algn="l" marL="777240" indent="-388620" lvl="1">
              <a:lnSpc>
                <a:spcPts val="5040"/>
              </a:lnSpc>
              <a:spcBef>
                <a:spcPct val="0"/>
              </a:spcBef>
              <a:buFont typeface="Arial"/>
              <a:buChar char="•"/>
            </a:pPr>
            <a:r>
              <a:rPr lang="en-US" sz="3600" spc="3">
                <a:solidFill>
                  <a:srgbClr val="000000"/>
                </a:solidFill>
                <a:latin typeface="Roboto"/>
                <a:ea typeface="Roboto"/>
                <a:cs typeface="Roboto"/>
                <a:sym typeface="Roboto"/>
              </a:rPr>
              <a:t>Alasan Resign: Replaced null values with the modus to maintain data distribution.</a:t>
            </a:r>
          </a:p>
          <a:p>
            <a:pPr algn="l" marL="777240" indent="-388620" lvl="1">
              <a:lnSpc>
                <a:spcPts val="5040"/>
              </a:lnSpc>
              <a:spcBef>
                <a:spcPct val="0"/>
              </a:spcBef>
              <a:buFont typeface="Arial"/>
              <a:buChar char="•"/>
            </a:pPr>
            <a:r>
              <a:rPr lang="en-US" sz="3600" spc="3">
                <a:solidFill>
                  <a:srgbClr val="000000"/>
                </a:solidFill>
                <a:latin typeface="Roboto"/>
                <a:ea typeface="Roboto"/>
                <a:cs typeface="Roboto"/>
                <a:sym typeface="Roboto"/>
              </a:rPr>
              <a:t>Ikut Program LOP: Dropped the column due to excessive null values (89.90%).</a:t>
            </a:r>
          </a:p>
          <a:p>
            <a:pPr algn="l">
              <a:lnSpc>
                <a:spcPts val="391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238125"/>
            <a:ext cx="15967105" cy="1453833"/>
          </a:xfrm>
          <a:prstGeom prst="rect">
            <a:avLst/>
          </a:prstGeom>
        </p:spPr>
        <p:txBody>
          <a:bodyPr anchor="t" rtlCol="false" tIns="0" lIns="0" bIns="0" rIns="0">
            <a:spAutoFit/>
          </a:bodyPr>
          <a:lstStyle/>
          <a:p>
            <a:pPr algn="ctr">
              <a:lnSpc>
                <a:spcPts val="10692"/>
              </a:lnSpc>
            </a:pPr>
            <a:r>
              <a:rPr lang="en-US" sz="11138">
                <a:solidFill>
                  <a:srgbClr val="FFFFFF"/>
                </a:solidFill>
                <a:latin typeface="Futura Display"/>
                <a:ea typeface="Futura Display"/>
                <a:cs typeface="Futura Display"/>
                <a:sym typeface="Futura Display"/>
              </a:rPr>
              <a:t>EDA AND DATA PREPROCESSING</a:t>
            </a:r>
          </a:p>
        </p:txBody>
      </p:sp>
      <p:sp>
        <p:nvSpPr>
          <p:cNvPr name="TextBox 6" id="6"/>
          <p:cNvSpPr txBox="true"/>
          <p:nvPr/>
        </p:nvSpPr>
        <p:spPr>
          <a:xfrm rot="0">
            <a:off x="0" y="1995314"/>
            <a:ext cx="18288000" cy="5701572"/>
          </a:xfrm>
          <a:prstGeom prst="rect">
            <a:avLst/>
          </a:prstGeom>
        </p:spPr>
        <p:txBody>
          <a:bodyPr anchor="t" rtlCol="false" tIns="0" lIns="0" bIns="0" rIns="0">
            <a:spAutoFit/>
          </a:bodyPr>
          <a:lstStyle/>
          <a:p>
            <a:pPr algn="l">
              <a:lnSpc>
                <a:spcPts val="5880"/>
              </a:lnSpc>
            </a:pPr>
            <a:r>
              <a:rPr lang="en-US" sz="4200" spc="4" b="true">
                <a:solidFill>
                  <a:srgbClr val="000000"/>
                </a:solidFill>
                <a:latin typeface="Roboto Bold"/>
                <a:ea typeface="Roboto Bold"/>
                <a:cs typeface="Roboto Bold"/>
                <a:sym typeface="Roboto Bold"/>
              </a:rPr>
              <a:t>Data Cleaning:</a:t>
            </a:r>
          </a:p>
          <a:p>
            <a:pPr algn="l" marL="777240" indent="-388620" lvl="1">
              <a:lnSpc>
                <a:spcPts val="5040"/>
              </a:lnSpc>
              <a:buFont typeface="Arial"/>
              <a:buChar char="•"/>
            </a:pPr>
            <a:r>
              <a:rPr lang="en-US" sz="3600" spc="3">
                <a:solidFill>
                  <a:srgbClr val="000000"/>
                </a:solidFill>
                <a:latin typeface="Roboto"/>
                <a:ea typeface="Roboto"/>
                <a:cs typeface="Roboto"/>
                <a:sym typeface="Roboto"/>
              </a:rPr>
              <a:t>No duplicate value</a:t>
            </a:r>
            <a:r>
              <a:rPr lang="en-US" sz="3600" spc="3">
                <a:solidFill>
                  <a:srgbClr val="000000"/>
                </a:solidFill>
                <a:latin typeface="Roboto"/>
                <a:ea typeface="Roboto"/>
                <a:cs typeface="Roboto"/>
                <a:sym typeface="Roboto"/>
              </a:rPr>
              <a:t>s found.</a:t>
            </a:r>
          </a:p>
          <a:p>
            <a:pPr algn="l" marL="777240" indent="-388620" lvl="1">
              <a:lnSpc>
                <a:spcPts val="5040"/>
              </a:lnSpc>
              <a:buFont typeface="Arial"/>
              <a:buChar char="•"/>
            </a:pPr>
            <a:r>
              <a:rPr lang="en-US" sz="3600" spc="3">
                <a:solidFill>
                  <a:srgbClr val="000000"/>
                </a:solidFill>
                <a:latin typeface="Roboto"/>
                <a:ea typeface="Roboto"/>
                <a:cs typeface="Roboto"/>
                <a:sym typeface="Roboto"/>
              </a:rPr>
              <a:t>Converted 'yes' to 1 in the column PernahBekerja.</a:t>
            </a:r>
          </a:p>
          <a:p>
            <a:pPr algn="l" marL="777240" indent="-388620" lvl="1">
              <a:lnSpc>
                <a:spcPts val="5040"/>
              </a:lnSpc>
              <a:spcBef>
                <a:spcPct val="0"/>
              </a:spcBef>
              <a:buFont typeface="Arial"/>
              <a:buChar char="•"/>
            </a:pPr>
            <a:r>
              <a:rPr lang="en-US" sz="3600" spc="3">
                <a:solidFill>
                  <a:srgbClr val="000000"/>
                </a:solidFill>
                <a:latin typeface="Roboto"/>
                <a:ea typeface="Roboto"/>
                <a:cs typeface="Roboto"/>
                <a:sym typeface="Roboto"/>
              </a:rPr>
              <a:t>Replaced '-' with Belum Menikah in Status Pernikah</a:t>
            </a:r>
            <a:r>
              <a:rPr lang="en-US" sz="3600" spc="3">
                <a:solidFill>
                  <a:srgbClr val="000000"/>
                </a:solidFill>
                <a:latin typeface="Roboto"/>
                <a:ea typeface="Roboto"/>
                <a:cs typeface="Roboto"/>
                <a:sym typeface="Roboto"/>
              </a:rPr>
              <a:t>an since it was the most fr</a:t>
            </a:r>
            <a:r>
              <a:rPr lang="en-US" sz="3600" spc="3">
                <a:solidFill>
                  <a:srgbClr val="000000"/>
                </a:solidFill>
                <a:latin typeface="Roboto"/>
                <a:ea typeface="Roboto"/>
                <a:cs typeface="Roboto"/>
                <a:sym typeface="Roboto"/>
              </a:rPr>
              <a:t>equ</a:t>
            </a:r>
            <a:r>
              <a:rPr lang="en-US" sz="3600" spc="3">
                <a:solidFill>
                  <a:srgbClr val="000000"/>
                </a:solidFill>
                <a:latin typeface="Roboto"/>
                <a:ea typeface="Roboto"/>
                <a:cs typeface="Roboto"/>
                <a:sym typeface="Roboto"/>
              </a:rPr>
              <a:t>ent value.</a:t>
            </a:r>
          </a:p>
          <a:p>
            <a:pPr algn="l" marL="777240" indent="-388620" lvl="1">
              <a:lnSpc>
                <a:spcPts val="5040"/>
              </a:lnSpc>
              <a:spcBef>
                <a:spcPct val="0"/>
              </a:spcBef>
              <a:buFont typeface="Arial"/>
              <a:buChar char="•"/>
            </a:pPr>
            <a:r>
              <a:rPr lang="en-US" sz="3600" spc="3">
                <a:solidFill>
                  <a:srgbClr val="000000"/>
                </a:solidFill>
                <a:latin typeface="Roboto"/>
                <a:ea typeface="Roboto"/>
                <a:cs typeface="Roboto"/>
                <a:sym typeface="Roboto"/>
              </a:rPr>
              <a:t>Changed Product Design (UI &amp; UX) to masih bekerja in AlasanResign based on frequency.</a:t>
            </a:r>
          </a:p>
          <a:p>
            <a:pPr algn="l" marL="777240" indent="-388620" lvl="1">
              <a:lnSpc>
                <a:spcPts val="5040"/>
              </a:lnSpc>
              <a:spcBef>
                <a:spcPct val="0"/>
              </a:spcBef>
              <a:buFont typeface="Arial"/>
              <a:buChar char="•"/>
            </a:pPr>
            <a:r>
              <a:rPr lang="en-US" sz="3600" spc="3">
                <a:solidFill>
                  <a:srgbClr val="000000"/>
                </a:solidFill>
                <a:latin typeface="Roboto"/>
                <a:ea typeface="Roboto"/>
                <a:cs typeface="Roboto"/>
                <a:sym typeface="Roboto"/>
              </a:rPr>
              <a:t>Dropped the PernahBekerja column due to it having only one unique value (constant).</a:t>
            </a:r>
          </a:p>
          <a:p>
            <a:pPr algn="l">
              <a:lnSpc>
                <a:spcPts val="391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84097" y="3152793"/>
            <a:ext cx="9605063" cy="5227830"/>
          </a:xfrm>
          <a:custGeom>
            <a:avLst/>
            <a:gdLst/>
            <a:ahLst/>
            <a:cxnLst/>
            <a:rect r="r" b="b" t="t" l="l"/>
            <a:pathLst>
              <a:path h="5227830" w="9605063">
                <a:moveTo>
                  <a:pt x="0" y="0"/>
                </a:moveTo>
                <a:lnTo>
                  <a:pt x="9605063" y="0"/>
                </a:lnTo>
                <a:lnTo>
                  <a:pt x="9605063" y="5227830"/>
                </a:lnTo>
                <a:lnTo>
                  <a:pt x="0" y="5227830"/>
                </a:lnTo>
                <a:lnTo>
                  <a:pt x="0" y="0"/>
                </a:lnTo>
                <a:close/>
              </a:path>
            </a:pathLst>
          </a:custGeom>
          <a:blipFill>
            <a:blip r:embed="rId2"/>
            <a:stretch>
              <a:fillRect l="0" t="0" r="0" b="0"/>
            </a:stretch>
          </a:blipFill>
        </p:spPr>
      </p:sp>
      <p:sp>
        <p:nvSpPr>
          <p:cNvPr name="TextBox 6" id="6"/>
          <p:cNvSpPr txBox="true"/>
          <p:nvPr/>
        </p:nvSpPr>
        <p:spPr>
          <a:xfrm rot="0">
            <a:off x="1028700" y="238125"/>
            <a:ext cx="15967105" cy="1453833"/>
          </a:xfrm>
          <a:prstGeom prst="rect">
            <a:avLst/>
          </a:prstGeom>
        </p:spPr>
        <p:txBody>
          <a:bodyPr anchor="t" rtlCol="false" tIns="0" lIns="0" bIns="0" rIns="0">
            <a:spAutoFit/>
          </a:bodyPr>
          <a:lstStyle/>
          <a:p>
            <a:pPr algn="ctr">
              <a:lnSpc>
                <a:spcPts val="10692"/>
              </a:lnSpc>
            </a:pPr>
            <a:r>
              <a:rPr lang="en-US" sz="11138">
                <a:solidFill>
                  <a:srgbClr val="FFFFFF"/>
                </a:solidFill>
                <a:latin typeface="Futura Display"/>
                <a:ea typeface="Futura Display"/>
                <a:cs typeface="Futura Display"/>
                <a:sym typeface="Futura Display"/>
              </a:rPr>
              <a:t>EDA AND DATA PREPROCESSING</a:t>
            </a:r>
          </a:p>
        </p:txBody>
      </p:sp>
      <p:sp>
        <p:nvSpPr>
          <p:cNvPr name="TextBox 7" id="7"/>
          <p:cNvSpPr txBox="true"/>
          <p:nvPr/>
        </p:nvSpPr>
        <p:spPr>
          <a:xfrm rot="0">
            <a:off x="10357402" y="2507192"/>
            <a:ext cx="7614609" cy="6442833"/>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spc="2">
                <a:solidFill>
                  <a:srgbClr val="000000"/>
                </a:solidFill>
                <a:latin typeface="Roboto Bold"/>
                <a:ea typeface="Roboto Bold"/>
                <a:cs typeface="Roboto Bold"/>
                <a:sym typeface="Roboto Bold"/>
              </a:rPr>
              <a:t>High Retention Rate: The</a:t>
            </a:r>
            <a:r>
              <a:rPr lang="en-US" b="true" sz="2799" spc="2">
                <a:solidFill>
                  <a:srgbClr val="000000"/>
                </a:solidFill>
                <a:latin typeface="Roboto Bold"/>
                <a:ea typeface="Roboto Bold"/>
                <a:cs typeface="Roboto Bold"/>
                <a:sym typeface="Roboto Bold"/>
              </a:rPr>
              <a:t> majority of employees have stayed with the company, with fewer resignations overall.</a:t>
            </a:r>
          </a:p>
          <a:p>
            <a:pPr algn="l" marL="604519" indent="-302260" lvl="1">
              <a:lnSpc>
                <a:spcPts val="3919"/>
              </a:lnSpc>
              <a:spcBef>
                <a:spcPct val="0"/>
              </a:spcBef>
              <a:buFont typeface="Arial"/>
              <a:buChar char="•"/>
            </a:pPr>
            <a:r>
              <a:rPr lang="en-US" b="true" sz="2799" spc="2">
                <a:solidFill>
                  <a:srgbClr val="000000"/>
                </a:solidFill>
                <a:latin typeface="Roboto Bold"/>
                <a:ea typeface="Roboto Bold"/>
                <a:cs typeface="Roboto Bold"/>
                <a:sym typeface="Roboto Bold"/>
              </a:rPr>
              <a:t>2011: Signific</a:t>
            </a:r>
            <a:r>
              <a:rPr lang="en-US" b="true" sz="2799" spc="2">
                <a:solidFill>
                  <a:srgbClr val="000000"/>
                </a:solidFill>
                <a:latin typeface="Roboto Bold"/>
                <a:ea typeface="Roboto Bold"/>
                <a:cs typeface="Roboto Bold"/>
                <a:sym typeface="Roboto Bold"/>
              </a:rPr>
              <a:t>ant increase in new hires (76 employees) due to a major r</a:t>
            </a:r>
            <a:r>
              <a:rPr lang="en-US" b="true" sz="2799" spc="2">
                <a:solidFill>
                  <a:srgbClr val="000000"/>
                </a:solidFill>
                <a:latin typeface="Roboto Bold"/>
                <a:ea typeface="Roboto Bold"/>
                <a:cs typeface="Roboto Bold"/>
                <a:sym typeface="Roboto Bold"/>
              </a:rPr>
              <a:t>ecruitm</a:t>
            </a:r>
            <a:r>
              <a:rPr lang="en-US" b="true" sz="2799" spc="2">
                <a:solidFill>
                  <a:srgbClr val="000000"/>
                </a:solidFill>
                <a:latin typeface="Roboto Bold"/>
                <a:ea typeface="Roboto Bold"/>
                <a:cs typeface="Roboto Bold"/>
                <a:sym typeface="Roboto Bold"/>
              </a:rPr>
              <a:t>ent drive.</a:t>
            </a:r>
          </a:p>
          <a:p>
            <a:pPr algn="l" marL="604519" indent="-302260" lvl="1">
              <a:lnSpc>
                <a:spcPts val="3919"/>
              </a:lnSpc>
              <a:spcBef>
                <a:spcPct val="0"/>
              </a:spcBef>
              <a:buFont typeface="Arial"/>
              <a:buChar char="•"/>
            </a:pPr>
            <a:r>
              <a:rPr lang="en-US" b="true" sz="2799" spc="2">
                <a:solidFill>
                  <a:srgbClr val="000000"/>
                </a:solidFill>
                <a:latin typeface="Roboto Bold"/>
                <a:ea typeface="Roboto Bold"/>
                <a:cs typeface="Roboto Bold"/>
                <a:sym typeface="Roboto Bold"/>
              </a:rPr>
              <a:t>2014:</a:t>
            </a:r>
            <a:r>
              <a:rPr lang="en-US" b="true" sz="2799" spc="2">
                <a:solidFill>
                  <a:srgbClr val="000000"/>
                </a:solidFill>
                <a:latin typeface="Roboto Bold"/>
                <a:ea typeface="Roboto Bold"/>
                <a:cs typeface="Roboto Bold"/>
                <a:sym typeface="Roboto Bold"/>
              </a:rPr>
              <a:t> Another increase in new hires, but accompanied by a higher resignation rate.</a:t>
            </a:r>
          </a:p>
          <a:p>
            <a:pPr algn="l" marL="604519" indent="-302260" lvl="1">
              <a:lnSpc>
                <a:spcPts val="3919"/>
              </a:lnSpc>
              <a:spcBef>
                <a:spcPct val="0"/>
              </a:spcBef>
              <a:buFont typeface="Arial"/>
              <a:buChar char="•"/>
            </a:pPr>
            <a:r>
              <a:rPr lang="en-US" b="true" sz="2799" spc="2">
                <a:solidFill>
                  <a:srgbClr val="000000"/>
                </a:solidFill>
                <a:latin typeface="Roboto Bold"/>
                <a:ea typeface="Roboto Bold"/>
                <a:cs typeface="Roboto Bold"/>
                <a:sym typeface="Roboto Bold"/>
              </a:rPr>
              <a:t>2016:</a:t>
            </a:r>
            <a:r>
              <a:rPr lang="en-US" b="true" sz="2799" spc="2">
                <a:solidFill>
                  <a:srgbClr val="000000"/>
                </a:solidFill>
                <a:latin typeface="Roboto Bold"/>
                <a:ea typeface="Roboto Bold"/>
                <a:cs typeface="Roboto Bold"/>
                <a:sym typeface="Roboto Bold"/>
              </a:rPr>
              <a:t> The highest total number of employees, reaching 248.</a:t>
            </a:r>
          </a:p>
          <a:p>
            <a:pPr algn="l" marL="604519" indent="-302260" lvl="1">
              <a:lnSpc>
                <a:spcPts val="3919"/>
              </a:lnSpc>
              <a:spcBef>
                <a:spcPct val="0"/>
              </a:spcBef>
              <a:buFont typeface="Arial"/>
              <a:buChar char="•"/>
            </a:pPr>
            <a:r>
              <a:rPr lang="en-US" b="true" sz="2799" spc="2">
                <a:solidFill>
                  <a:srgbClr val="000000"/>
                </a:solidFill>
                <a:latin typeface="Roboto Bold"/>
                <a:ea typeface="Roboto Bold"/>
                <a:cs typeface="Roboto Bold"/>
                <a:sym typeface="Roboto Bold"/>
              </a:rPr>
              <a:t>2017-2018: Notable spike in employee resignations during these years.</a:t>
            </a:r>
          </a:p>
          <a:p>
            <a:pPr algn="l">
              <a:lnSpc>
                <a:spcPts val="39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35924" y="2939210"/>
            <a:ext cx="8405095" cy="5584546"/>
          </a:xfrm>
          <a:custGeom>
            <a:avLst/>
            <a:gdLst/>
            <a:ahLst/>
            <a:cxnLst/>
            <a:rect r="r" b="b" t="t" l="l"/>
            <a:pathLst>
              <a:path h="5584546" w="8405095">
                <a:moveTo>
                  <a:pt x="0" y="0"/>
                </a:moveTo>
                <a:lnTo>
                  <a:pt x="8405096" y="0"/>
                </a:lnTo>
                <a:lnTo>
                  <a:pt x="8405096" y="5584546"/>
                </a:lnTo>
                <a:lnTo>
                  <a:pt x="0" y="5584546"/>
                </a:lnTo>
                <a:lnTo>
                  <a:pt x="0" y="0"/>
                </a:lnTo>
                <a:close/>
              </a:path>
            </a:pathLst>
          </a:custGeom>
          <a:blipFill>
            <a:blip r:embed="rId2"/>
            <a:stretch>
              <a:fillRect l="0" t="0" r="0" b="0"/>
            </a:stretch>
          </a:blipFill>
        </p:spPr>
      </p:sp>
      <p:sp>
        <p:nvSpPr>
          <p:cNvPr name="TextBox 6" id="6"/>
          <p:cNvSpPr txBox="true"/>
          <p:nvPr/>
        </p:nvSpPr>
        <p:spPr>
          <a:xfrm rot="0">
            <a:off x="1160447" y="676814"/>
            <a:ext cx="15967105" cy="622509"/>
          </a:xfrm>
          <a:prstGeom prst="rect">
            <a:avLst/>
          </a:prstGeom>
        </p:spPr>
        <p:txBody>
          <a:bodyPr anchor="t" rtlCol="false" tIns="0" lIns="0" bIns="0" rIns="0">
            <a:spAutoFit/>
          </a:bodyPr>
          <a:lstStyle/>
          <a:p>
            <a:pPr algn="ctr">
              <a:lnSpc>
                <a:spcPts val="4607"/>
              </a:lnSpc>
            </a:pPr>
            <a:r>
              <a:rPr lang="en-US" sz="4799">
                <a:solidFill>
                  <a:srgbClr val="FFFFFF"/>
                </a:solidFill>
                <a:latin typeface="Roca One"/>
                <a:ea typeface="Roca One"/>
                <a:cs typeface="Roca One"/>
                <a:sym typeface="Roca One"/>
              </a:rPr>
              <a:t>EMPLOYEE DISTRIBUTION BY ROLE (PEKERJAAN)</a:t>
            </a:r>
          </a:p>
        </p:txBody>
      </p:sp>
      <p:sp>
        <p:nvSpPr>
          <p:cNvPr name="TextBox 7" id="7"/>
          <p:cNvSpPr txBox="true"/>
          <p:nvPr/>
        </p:nvSpPr>
        <p:spPr>
          <a:xfrm rot="0">
            <a:off x="9144000" y="1996588"/>
            <a:ext cx="8959759" cy="8536689"/>
          </a:xfrm>
          <a:prstGeom prst="rect">
            <a:avLst/>
          </a:prstGeom>
        </p:spPr>
        <p:txBody>
          <a:bodyPr anchor="t" rtlCol="false" tIns="0" lIns="0" bIns="0" rIns="0">
            <a:spAutoFit/>
          </a:bodyPr>
          <a:lstStyle/>
          <a:p>
            <a:pPr algn="l">
              <a:lnSpc>
                <a:spcPts val="2940"/>
              </a:lnSpc>
            </a:pPr>
            <a:r>
              <a:rPr lang="en-US" sz="2100" spc="2" b="true">
                <a:solidFill>
                  <a:srgbClr val="000000"/>
                </a:solidFill>
                <a:latin typeface="Roboto Bold"/>
                <a:ea typeface="Roboto Bold"/>
                <a:cs typeface="Roboto Bold"/>
                <a:sym typeface="Roboto Bold"/>
              </a:rPr>
              <a:t>Top Roles: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Software Engineer (Back End): Highest percentage of employees, over 25%.</a:t>
            </a:r>
          </a:p>
          <a:p>
            <a:pPr algn="l" marL="453390" indent="-226695" lvl="1">
              <a:lnSpc>
                <a:spcPts val="2940"/>
              </a:lnSpc>
              <a:buFont typeface="Arial"/>
              <a:buChar char="•"/>
            </a:pPr>
            <a:r>
              <a:rPr lang="en-US" sz="2100" spc="2">
                <a:solidFill>
                  <a:srgbClr val="000000"/>
                </a:solidFill>
                <a:latin typeface="Roboto"/>
                <a:ea typeface="Roboto"/>
                <a:cs typeface="Roboto"/>
                <a:sym typeface="Roboto"/>
              </a:rPr>
              <a:t>Software Engineer (Front End): Second largest group, around 15%.</a:t>
            </a:r>
          </a:p>
          <a:p>
            <a:pPr algn="l" marL="453390" indent="-226695" lvl="1">
              <a:lnSpc>
                <a:spcPts val="2940"/>
              </a:lnSpc>
              <a:buFont typeface="Arial"/>
              <a:buChar char="•"/>
            </a:pPr>
            <a:r>
              <a:rPr lang="en-US" sz="2100" spc="2">
                <a:solidFill>
                  <a:srgbClr val="000000"/>
                </a:solidFill>
                <a:latin typeface="Roboto"/>
                <a:ea typeface="Roboto"/>
                <a:cs typeface="Roboto"/>
                <a:sym typeface="Roboto"/>
              </a:rPr>
              <a:t>Software Engineer (Android): Third largest, contributing to a significant portion of the workforce.</a:t>
            </a:r>
          </a:p>
          <a:p>
            <a:pPr algn="l">
              <a:lnSpc>
                <a:spcPts val="2940"/>
              </a:lnSpc>
            </a:pPr>
            <a:r>
              <a:rPr lang="en-US" sz="2100" spc="2" b="true">
                <a:solidFill>
                  <a:srgbClr val="000000"/>
                </a:solidFill>
                <a:latin typeface="Roboto Bold"/>
                <a:ea typeface="Roboto Bold"/>
                <a:cs typeface="Roboto Bold"/>
                <a:sym typeface="Roboto Bold"/>
              </a:rPr>
              <a:t>Design and Product Roles: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Product Design (UI &amp; UX): Fourth highest, reflecting the importance of design in the company.</a:t>
            </a:r>
          </a:p>
          <a:p>
            <a:pPr algn="l" marL="453390" indent="-226695" lvl="1">
              <a:lnSpc>
                <a:spcPts val="2940"/>
              </a:lnSpc>
              <a:buFont typeface="Arial"/>
              <a:buChar char="•"/>
            </a:pPr>
            <a:r>
              <a:rPr lang="en-US" sz="2100" spc="2">
                <a:solidFill>
                  <a:srgbClr val="000000"/>
                </a:solidFill>
                <a:latin typeface="Roboto"/>
                <a:ea typeface="Roboto"/>
                <a:cs typeface="Roboto"/>
                <a:sym typeface="Roboto"/>
              </a:rPr>
              <a:t>Product Manager: Important role, though fewer in number compared to engineering positions.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Other Technical Roles: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Data Analyst &amp; Data Engineer: Moderate representation, highlighting the company's focus on data-driven decisions.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Software Engineer (iOS): Smaller group, indicating a niche area of focus.</a:t>
            </a:r>
          </a:p>
          <a:p>
            <a:pPr algn="l">
              <a:lnSpc>
                <a:spcPts val="2940"/>
              </a:lnSpc>
            </a:pPr>
            <a:r>
              <a:rPr lang="en-US" sz="2100" spc="2" b="true">
                <a:solidFill>
                  <a:srgbClr val="000000"/>
                </a:solidFill>
                <a:latin typeface="Roboto Bold"/>
                <a:ea typeface="Roboto Bold"/>
                <a:cs typeface="Roboto Bold"/>
                <a:sym typeface="Roboto Bold"/>
              </a:rPr>
              <a:t>Specialized Roles: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Scrum Master, DevOps Engineer, Machine Learning Engineer: Lower percentages, representing specialized support functions.</a:t>
            </a:r>
          </a:p>
          <a:p>
            <a:pPr algn="l" marL="453390" indent="-226695" lvl="1">
              <a:lnSpc>
                <a:spcPts val="2940"/>
              </a:lnSpc>
              <a:buFont typeface="Arial"/>
              <a:buChar char="•"/>
            </a:pPr>
            <a:r>
              <a:rPr lang="en-US" sz="2100" spc="2">
                <a:solidFill>
                  <a:srgbClr val="000000"/>
                </a:solidFill>
                <a:latin typeface="Roboto"/>
                <a:ea typeface="Roboto"/>
                <a:cs typeface="Roboto"/>
                <a:sym typeface="Roboto"/>
              </a:rPr>
              <a:t>Digital Product Manager, Software Architect, Product Design (UX Researcher): Least represented roles, indicating highly specialized positions.</a:t>
            </a:r>
          </a:p>
          <a:p>
            <a:pPr algn="l">
              <a:lnSpc>
                <a:spcPts val="294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12475" y="3515748"/>
            <a:ext cx="8599778" cy="4267341"/>
          </a:xfrm>
          <a:custGeom>
            <a:avLst/>
            <a:gdLst/>
            <a:ahLst/>
            <a:cxnLst/>
            <a:rect r="r" b="b" t="t" l="l"/>
            <a:pathLst>
              <a:path h="4267341" w="8599778">
                <a:moveTo>
                  <a:pt x="0" y="0"/>
                </a:moveTo>
                <a:lnTo>
                  <a:pt x="8599778" y="0"/>
                </a:lnTo>
                <a:lnTo>
                  <a:pt x="8599778" y="4267342"/>
                </a:lnTo>
                <a:lnTo>
                  <a:pt x="0" y="4267342"/>
                </a:lnTo>
                <a:lnTo>
                  <a:pt x="0" y="0"/>
                </a:lnTo>
                <a:close/>
              </a:path>
            </a:pathLst>
          </a:custGeom>
          <a:blipFill>
            <a:blip r:embed="rId2"/>
            <a:stretch>
              <a:fillRect l="0" t="0" r="0" b="0"/>
            </a:stretch>
          </a:blipFill>
        </p:spPr>
      </p:sp>
      <p:sp>
        <p:nvSpPr>
          <p:cNvPr name="TextBox 6" id="6"/>
          <p:cNvSpPr txBox="true"/>
          <p:nvPr/>
        </p:nvSpPr>
        <p:spPr>
          <a:xfrm rot="0">
            <a:off x="773483" y="667289"/>
            <a:ext cx="17075059" cy="559689"/>
          </a:xfrm>
          <a:prstGeom prst="rect">
            <a:avLst/>
          </a:prstGeom>
        </p:spPr>
        <p:txBody>
          <a:bodyPr anchor="t" rtlCol="false" tIns="0" lIns="0" bIns="0" rIns="0">
            <a:spAutoFit/>
          </a:bodyPr>
          <a:lstStyle/>
          <a:p>
            <a:pPr algn="ctr">
              <a:lnSpc>
                <a:spcPts val="4127"/>
              </a:lnSpc>
            </a:pPr>
            <a:r>
              <a:rPr lang="en-US" sz="4299">
                <a:solidFill>
                  <a:srgbClr val="FFFFFF"/>
                </a:solidFill>
                <a:latin typeface="Roca One"/>
                <a:ea typeface="Roca One"/>
                <a:cs typeface="Roca One"/>
                <a:sym typeface="Roca One"/>
              </a:rPr>
              <a:t>EMPLOYEE RESIGNATIONS BY CAREER LEVEL (JENJANGKARIR)</a:t>
            </a:r>
          </a:p>
        </p:txBody>
      </p:sp>
      <p:sp>
        <p:nvSpPr>
          <p:cNvPr name="TextBox 7" id="7"/>
          <p:cNvSpPr txBox="true"/>
          <p:nvPr/>
        </p:nvSpPr>
        <p:spPr>
          <a:xfrm rot="0">
            <a:off x="9144000" y="2012756"/>
            <a:ext cx="8959759" cy="8188519"/>
          </a:xfrm>
          <a:prstGeom prst="rect">
            <a:avLst/>
          </a:prstGeom>
        </p:spPr>
        <p:txBody>
          <a:bodyPr anchor="t" rtlCol="false" tIns="0" lIns="0" bIns="0" rIns="0">
            <a:spAutoFit/>
          </a:bodyPr>
          <a:lstStyle/>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Fresh Graduates </a:t>
            </a:r>
            <a:r>
              <a:rPr lang="en-US" sz="2349" spc="2">
                <a:solidFill>
                  <a:srgbClr val="000000"/>
                </a:solidFill>
                <a:latin typeface="Roboto"/>
                <a:ea typeface="Roboto"/>
                <a:cs typeface="Roboto"/>
                <a:sym typeface="Roboto"/>
              </a:rPr>
              <a:t>show the highest resignation rates, often due to job mismatches where roles don't align with their skills or expectations. They might also face unmet expectations regarding growth opportunities, benefits, and work environment, coupled with the challenge of adjusting from academic to professional life.</a:t>
            </a:r>
          </a:p>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Mid-Level Employees </a:t>
            </a:r>
            <a:r>
              <a:rPr lang="en-US" sz="2349" spc="2">
                <a:solidFill>
                  <a:srgbClr val="000000"/>
                </a:solidFill>
                <a:latin typeface="Roboto"/>
                <a:ea typeface="Roboto"/>
                <a:cs typeface="Roboto"/>
                <a:sym typeface="Roboto"/>
              </a:rPr>
              <a:t>rank second in resignation rates. Many in this group seek faster career progression and new challenges, often leaving if they can't find these within the company. Work-life balance is also a significant factor, with some mid-level employees resigning if they can't achieve the balance they need. Additionally, salary expectations play a role, as they may leave if their compensation doesn't reflect their experience.</a:t>
            </a:r>
          </a:p>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Senior-Level Employees </a:t>
            </a:r>
            <a:r>
              <a:rPr lang="en-US" sz="2349" spc="2">
                <a:solidFill>
                  <a:srgbClr val="000000"/>
                </a:solidFill>
                <a:latin typeface="Roboto"/>
                <a:ea typeface="Roboto"/>
                <a:cs typeface="Roboto"/>
                <a:sym typeface="Roboto"/>
              </a:rPr>
              <a:t>have the third highest resignation rate. Career stagnation can lead to dissatisfaction, with some feeling they have reached a plateau. Cultural misalignment might also prompt them to seek environments better suited to their values. Finally, retirement considerations or the desire for less demanding roles might lead senior employees to resign.</a:t>
            </a:r>
          </a:p>
          <a:p>
            <a:pPr algn="l">
              <a:lnSpc>
                <a:spcPts val="328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82694" y="3379888"/>
            <a:ext cx="8661306" cy="4297872"/>
          </a:xfrm>
          <a:custGeom>
            <a:avLst/>
            <a:gdLst/>
            <a:ahLst/>
            <a:cxnLst/>
            <a:rect r="r" b="b" t="t" l="l"/>
            <a:pathLst>
              <a:path h="4297872" w="8661306">
                <a:moveTo>
                  <a:pt x="0" y="0"/>
                </a:moveTo>
                <a:lnTo>
                  <a:pt x="8661306" y="0"/>
                </a:lnTo>
                <a:lnTo>
                  <a:pt x="8661306" y="4297872"/>
                </a:lnTo>
                <a:lnTo>
                  <a:pt x="0" y="4297872"/>
                </a:lnTo>
                <a:lnTo>
                  <a:pt x="0" y="0"/>
                </a:lnTo>
                <a:close/>
              </a:path>
            </a:pathLst>
          </a:custGeom>
          <a:blipFill>
            <a:blip r:embed="rId2"/>
            <a:stretch>
              <a:fillRect l="0" t="0" r="0" b="0"/>
            </a:stretch>
          </a:blipFill>
        </p:spPr>
      </p:sp>
      <p:sp>
        <p:nvSpPr>
          <p:cNvPr name="TextBox 6" id="6"/>
          <p:cNvSpPr txBox="true"/>
          <p:nvPr/>
        </p:nvSpPr>
        <p:spPr>
          <a:xfrm rot="0">
            <a:off x="1028700" y="667289"/>
            <a:ext cx="15967105" cy="584747"/>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EMPLOYEE RESIGNATION COUNT BY ROLE (PEKERJAAN)</a:t>
            </a:r>
          </a:p>
        </p:txBody>
      </p:sp>
      <p:sp>
        <p:nvSpPr>
          <p:cNvPr name="TextBox 7" id="7"/>
          <p:cNvSpPr txBox="true"/>
          <p:nvPr/>
        </p:nvSpPr>
        <p:spPr>
          <a:xfrm rot="0">
            <a:off x="9144000" y="2217533"/>
            <a:ext cx="8959759" cy="7778966"/>
          </a:xfrm>
          <a:prstGeom prst="rect">
            <a:avLst/>
          </a:prstGeom>
        </p:spPr>
        <p:txBody>
          <a:bodyPr anchor="t" rtlCol="false" tIns="0" lIns="0" bIns="0" rIns="0">
            <a:spAutoFit/>
          </a:bodyPr>
          <a:lstStyle/>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The chart shows that Software Engineer (Back End) and Software Engineer (Front End) have the highest number of resignations, with 28 people each. This could be due to factors such as high stress levels and workload, which may contribute to their decision to resign.</a:t>
            </a:r>
          </a:p>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Product Design (UI &amp; UX) and Data Analyst follow with 9 and 8 resignations, respectively. Employees in these roles might be experiencing limited career development opportunities or restricted creativity in their work, leading them to seek new opportunities.</a:t>
            </a:r>
          </a:p>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Software Engineer (Android) and Product Manager have 7 and 6 resignations, respectively. In these positions, factors such as inflexible working hours or lack of support for product development could be influencing their decision to leave the company.</a:t>
            </a:r>
          </a:p>
          <a:p>
            <a:pPr algn="l" marL="507364" indent="-253682" lvl="1">
              <a:lnSpc>
                <a:spcPts val="3289"/>
              </a:lnSpc>
              <a:buFont typeface="Arial"/>
              <a:buChar char="•"/>
            </a:pPr>
            <a:r>
              <a:rPr lang="en-US" b="true" sz="2349" spc="2">
                <a:solidFill>
                  <a:srgbClr val="000000"/>
                </a:solidFill>
                <a:latin typeface="Roboto Bold"/>
                <a:ea typeface="Roboto Bold"/>
                <a:cs typeface="Roboto Bold"/>
                <a:sym typeface="Roboto Bold"/>
              </a:rPr>
              <a:t>Data Engineer has the fewest resignations, with only 3 people. This may indicate that this role has higher stability, possibly due to its narrower specialization.</a:t>
            </a:r>
          </a:p>
          <a:p>
            <a:pPr algn="l">
              <a:lnSpc>
                <a:spcPts val="328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512533"/>
            <a:ext cx="15967105" cy="1127583"/>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BUILDING AN AUTOMATED RESIGNATION BEHAVIOR PREDICTION USING MACHINE LEARNING</a:t>
            </a:r>
          </a:p>
        </p:txBody>
      </p:sp>
      <p:sp>
        <p:nvSpPr>
          <p:cNvPr name="TextBox 6" id="6"/>
          <p:cNvSpPr txBox="true"/>
          <p:nvPr/>
        </p:nvSpPr>
        <p:spPr>
          <a:xfrm rot="0">
            <a:off x="1028700" y="1745275"/>
            <a:ext cx="16230600" cy="8423553"/>
          </a:xfrm>
          <a:prstGeom prst="rect">
            <a:avLst/>
          </a:prstGeom>
        </p:spPr>
        <p:txBody>
          <a:bodyPr anchor="t" rtlCol="false" tIns="0" lIns="0" bIns="0" rIns="0">
            <a:spAutoFit/>
          </a:bodyPr>
          <a:lstStyle/>
          <a:p>
            <a:pPr algn="l">
              <a:lnSpc>
                <a:spcPts val="4480"/>
              </a:lnSpc>
            </a:pPr>
            <a:r>
              <a:rPr lang="en-US" sz="3200" spc="3" b="true">
                <a:solidFill>
                  <a:srgbClr val="000000"/>
                </a:solidFill>
                <a:latin typeface="Roboto Bold"/>
                <a:ea typeface="Roboto Bold"/>
                <a:cs typeface="Roboto Bold"/>
                <a:sym typeface="Roboto Bold"/>
              </a:rPr>
              <a:t>Data Splitting:</a:t>
            </a:r>
          </a:p>
          <a:p>
            <a:pPr algn="l" marL="690881" indent="-345440" lvl="1">
              <a:lnSpc>
                <a:spcPts val="4480"/>
              </a:lnSpc>
              <a:buFont typeface="Arial"/>
              <a:buChar char="•"/>
            </a:pPr>
            <a:r>
              <a:rPr lang="en-US" b="true" sz="3200" spc="3">
                <a:solidFill>
                  <a:srgbClr val="000000"/>
                </a:solidFill>
                <a:latin typeface="Roboto Bold"/>
                <a:ea typeface="Roboto Bold"/>
                <a:cs typeface="Roboto Bold"/>
                <a:sym typeface="Roboto Bold"/>
              </a:rPr>
              <a:t>Purpose: To separate the dataset into training and testing sets.</a:t>
            </a:r>
          </a:p>
          <a:p>
            <a:pPr algn="l" marL="690881" indent="-345440" lvl="1">
              <a:lnSpc>
                <a:spcPts val="4480"/>
              </a:lnSpc>
              <a:buFont typeface="Arial"/>
              <a:buChar char="•"/>
            </a:pPr>
            <a:r>
              <a:rPr lang="en-US" b="true" sz="3200" spc="3">
                <a:solidFill>
                  <a:srgbClr val="000000"/>
                </a:solidFill>
                <a:latin typeface="Roboto Bold"/>
                <a:ea typeface="Roboto Bold"/>
                <a:cs typeface="Roboto Bold"/>
                <a:sym typeface="Roboto Bold"/>
              </a:rPr>
              <a:t>Reason: This allows the model to be trained on one portion of the data (70%) and tested on a separate portion (30%). This is critical for evaluating the model's performance on unseen data.</a:t>
            </a:r>
          </a:p>
          <a:p>
            <a:pPr algn="l">
              <a:lnSpc>
                <a:spcPts val="4480"/>
              </a:lnSpc>
            </a:pPr>
            <a:r>
              <a:rPr lang="en-US" sz="3200" spc="3" b="true">
                <a:solidFill>
                  <a:srgbClr val="000000"/>
                </a:solidFill>
                <a:latin typeface="Roboto Bold"/>
                <a:ea typeface="Roboto Bold"/>
                <a:cs typeface="Roboto Bold"/>
                <a:sym typeface="Roboto Bold"/>
              </a:rPr>
              <a:t>Normalization:</a:t>
            </a:r>
          </a:p>
          <a:p>
            <a:pPr algn="l" marL="690881" indent="-345440" lvl="1">
              <a:lnSpc>
                <a:spcPts val="4480"/>
              </a:lnSpc>
              <a:buFont typeface="Arial"/>
              <a:buChar char="•"/>
            </a:pPr>
            <a:r>
              <a:rPr lang="en-US" b="true" sz="3200" spc="3">
                <a:solidFill>
                  <a:srgbClr val="000000"/>
                </a:solidFill>
                <a:latin typeface="Roboto Bold"/>
                <a:ea typeface="Roboto Bold"/>
                <a:cs typeface="Roboto Bold"/>
                <a:sym typeface="Roboto Bold"/>
              </a:rPr>
              <a:t>Purpose: To scale features using StandardScaler.</a:t>
            </a:r>
          </a:p>
          <a:p>
            <a:pPr algn="l" marL="690881" indent="-345440" lvl="1">
              <a:lnSpc>
                <a:spcPts val="4480"/>
              </a:lnSpc>
              <a:buFont typeface="Arial"/>
              <a:buChar char="•"/>
            </a:pPr>
            <a:r>
              <a:rPr lang="en-US" b="true" sz="3200" spc="3">
                <a:solidFill>
                  <a:srgbClr val="000000"/>
                </a:solidFill>
                <a:latin typeface="Roboto Bold"/>
                <a:ea typeface="Roboto Bold"/>
                <a:cs typeface="Roboto Bold"/>
                <a:sym typeface="Roboto Bold"/>
              </a:rPr>
              <a:t>Reason: Normalization ensures that all features contribute equally to the model by scaling them to a similar range, which is especially important for algorithms that rely on distance measures.</a:t>
            </a:r>
          </a:p>
          <a:p>
            <a:pPr algn="l">
              <a:lnSpc>
                <a:spcPts val="4480"/>
              </a:lnSpc>
            </a:pPr>
            <a:r>
              <a:rPr lang="en-US" sz="3200" spc="3" b="true">
                <a:solidFill>
                  <a:srgbClr val="000000"/>
                </a:solidFill>
                <a:latin typeface="Roboto Bold"/>
                <a:ea typeface="Roboto Bold"/>
                <a:cs typeface="Roboto Bold"/>
                <a:sym typeface="Roboto Bold"/>
              </a:rPr>
              <a:t>Handling Imbalance:</a:t>
            </a:r>
          </a:p>
          <a:p>
            <a:pPr algn="l" marL="690881" indent="-345440" lvl="1">
              <a:lnSpc>
                <a:spcPts val="4480"/>
              </a:lnSpc>
              <a:buFont typeface="Arial"/>
              <a:buChar char="•"/>
            </a:pPr>
            <a:r>
              <a:rPr lang="en-US" b="true" sz="3200" spc="3">
                <a:solidFill>
                  <a:srgbClr val="000000"/>
                </a:solidFill>
                <a:latin typeface="Roboto Bold"/>
                <a:ea typeface="Roboto Bold"/>
                <a:cs typeface="Roboto Bold"/>
                <a:sym typeface="Roboto Bold"/>
              </a:rPr>
              <a:t>SMOTE (Synthetic Minority Over-sampling Technique): This technique is used to address any class imbalance in the dataset, which can improve model performance on minority classes.</a:t>
            </a:r>
          </a:p>
          <a:p>
            <a:pPr algn="l">
              <a:lnSpc>
                <a:spcPts val="448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5" id="5"/>
          <p:cNvGraphicFramePr>
            <a:graphicFrameLocks noGrp="true"/>
          </p:cNvGraphicFramePr>
          <p:nvPr/>
        </p:nvGraphicFramePr>
        <p:xfrm>
          <a:off x="981399" y="1924050"/>
          <a:ext cx="15416933" cy="6438900"/>
        </p:xfrm>
        <a:graphic>
          <a:graphicData uri="http://schemas.openxmlformats.org/drawingml/2006/table">
            <a:tbl>
              <a:tblPr/>
              <a:tblGrid>
                <a:gridCol w="5363930"/>
                <a:gridCol w="1554145"/>
                <a:gridCol w="2943913"/>
                <a:gridCol w="2777976"/>
                <a:gridCol w="2776969"/>
              </a:tblGrid>
              <a:tr h="804862">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Model</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Acc</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Prec</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Recall</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Time Elapsed</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Random Forest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E46F48"/>
                    </a:solidFill>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0.966102</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E46F48"/>
                    </a:solidFill>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1.000000</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E46F48"/>
                    </a:solidFill>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0.888889</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E46F48"/>
                    </a:solidFill>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0.157220</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solidFill>
                      <a:srgbClr val="E46F48"/>
                    </a:solidFill>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AdaBoost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0.966102</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1.000000</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0.888889</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5.904674</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KNNeighbors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0.966102</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1.000000</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0.888889</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1.761770</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Logistic Regression</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0.898305</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1.000000</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0.666667</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12.171081</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XGBoost</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0.813559</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0.769231</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0.555556</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10.557507</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Decision Tree</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0.728814</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0.555556</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0.555556</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0.086862</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r h="804862">
                <a:tc>
                  <a:txBody>
                    <a:bodyPr anchor="t" rtlCol="false"/>
                    <a:lstStyle/>
                    <a:p>
                      <a:pPr algn="ctr">
                        <a:lnSpc>
                          <a:spcPts val="2659"/>
                        </a:lnSpc>
                        <a:defRPr/>
                      </a:pPr>
                      <a:r>
                        <a:rPr lang="en-US" sz="1899">
                          <a:solidFill>
                            <a:srgbClr val="000000"/>
                          </a:solidFill>
                          <a:latin typeface="Canva Sans"/>
                          <a:ea typeface="Canva Sans"/>
                          <a:cs typeface="Canva Sans"/>
                          <a:sym typeface="Canva Sans"/>
                        </a:rPr>
                        <a:t>ExtraTress</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0.610169</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0.368421</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0.388889</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0.171677</a:t>
                      </a:r>
                      <a:endParaRPr lang="en-US" sz="1100"/>
                    </a:p>
                  </a:txBody>
                  <a:tcPr marL="190500" marR="190500" marT="190500" marB="190500" anchor="ctr">
                    <a:lnL cmpd="sng" algn="ctr" cap="flat" w="38100">
                      <a:solidFill>
                        <a:srgbClr val="99ACFF"/>
                      </a:solidFill>
                      <a:prstDash val="solid"/>
                      <a:round/>
                      <a:headEnd type="none" w="med" len="med"/>
                      <a:tailEnd type="none" w="med" len="med"/>
                    </a:lnL>
                    <a:lnR cmpd="sng" algn="ctr" cap="flat" w="38100">
                      <a:solidFill>
                        <a:srgbClr val="99ACFF"/>
                      </a:solidFill>
                      <a:prstDash val="solid"/>
                      <a:round/>
                      <a:headEnd type="none" w="med" len="med"/>
                      <a:tailEnd type="none" w="med" len="med"/>
                    </a:lnR>
                    <a:lnT cmpd="sng" algn="ctr" cap="flat" w="38100">
                      <a:solidFill>
                        <a:srgbClr val="99ACFF"/>
                      </a:solidFill>
                      <a:prstDash val="solid"/>
                      <a:round/>
                      <a:headEnd type="none" w="med" len="med"/>
                      <a:tailEnd type="none" w="med" len="med"/>
                    </a:lnT>
                    <a:lnB cmpd="sng" algn="ctr" cap="flat" w="38100">
                      <a:solidFill>
                        <a:srgbClr val="99ACFF"/>
                      </a:solidFill>
                      <a:prstDash val="solid"/>
                      <a:round/>
                      <a:headEnd type="none" w="med" len="med"/>
                      <a:tailEnd type="none" w="med" len="med"/>
                    </a:lnB>
                  </a:tcPr>
                </a:tc>
              </a:tr>
            </a:tbl>
          </a:graphicData>
        </a:graphic>
      </p:graphicFrame>
      <p:sp>
        <p:nvSpPr>
          <p:cNvPr name="TextBox 6" id="6"/>
          <p:cNvSpPr txBox="true"/>
          <p:nvPr/>
        </p:nvSpPr>
        <p:spPr>
          <a:xfrm rot="0">
            <a:off x="1028700" y="512533"/>
            <a:ext cx="15967105" cy="1127583"/>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BUILDING AN AUTOMATED RESIGNATION BEHAVIOR PREDICTION USING MACHINE LEARNING</a:t>
            </a:r>
          </a:p>
        </p:txBody>
      </p:sp>
      <p:sp>
        <p:nvSpPr>
          <p:cNvPr name="TextBox 7" id="7"/>
          <p:cNvSpPr txBox="true"/>
          <p:nvPr/>
        </p:nvSpPr>
        <p:spPr>
          <a:xfrm rot="0">
            <a:off x="222291" y="8865936"/>
            <a:ext cx="17843418" cy="737103"/>
          </a:xfrm>
          <a:prstGeom prst="rect">
            <a:avLst/>
          </a:prstGeom>
        </p:spPr>
        <p:txBody>
          <a:bodyPr anchor="t" rtlCol="false" tIns="0" lIns="0" bIns="0" rIns="0">
            <a:spAutoFit/>
          </a:bodyPr>
          <a:lstStyle/>
          <a:p>
            <a:pPr algn="ctr">
              <a:lnSpc>
                <a:spcPts val="2940"/>
              </a:lnSpc>
              <a:spcBef>
                <a:spcPct val="0"/>
              </a:spcBef>
            </a:pPr>
            <a:r>
              <a:rPr lang="en-US" b="true" sz="2100" spc="2">
                <a:solidFill>
                  <a:srgbClr val="000000"/>
                </a:solidFill>
                <a:latin typeface="Roboto Bold"/>
                <a:ea typeface="Roboto Bold"/>
                <a:cs typeface="Roboto Bold"/>
                <a:sym typeface="Roboto Bold"/>
              </a:rPr>
              <a:t>The Random Forest model is selected as the best overall performer, offering a perfect blend of accuracy, speed, and reliability for predicting employee resignation behavior.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206472"/>
            <a:ext cx="8831223" cy="7658326"/>
          </a:xfrm>
          <a:custGeom>
            <a:avLst/>
            <a:gdLst/>
            <a:ahLst/>
            <a:cxnLst/>
            <a:rect r="r" b="b" t="t" l="l"/>
            <a:pathLst>
              <a:path h="7658326" w="8831223">
                <a:moveTo>
                  <a:pt x="0" y="0"/>
                </a:moveTo>
                <a:lnTo>
                  <a:pt x="8831223" y="0"/>
                </a:lnTo>
                <a:lnTo>
                  <a:pt x="8831223" y="7658326"/>
                </a:lnTo>
                <a:lnTo>
                  <a:pt x="0" y="7658326"/>
                </a:lnTo>
                <a:lnTo>
                  <a:pt x="0" y="0"/>
                </a:lnTo>
                <a:close/>
              </a:path>
            </a:pathLst>
          </a:custGeom>
          <a:blipFill>
            <a:blip r:embed="rId2"/>
            <a:stretch>
              <a:fillRect l="0" t="0" r="0" b="0"/>
            </a:stretch>
          </a:blipFill>
        </p:spPr>
      </p:sp>
      <p:sp>
        <p:nvSpPr>
          <p:cNvPr name="TextBox 6" id="6"/>
          <p:cNvSpPr txBox="true"/>
          <p:nvPr/>
        </p:nvSpPr>
        <p:spPr>
          <a:xfrm rot="0">
            <a:off x="1028700" y="512533"/>
            <a:ext cx="15967105" cy="1127583"/>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BUILDING AN AUTOMATED RESIGNATION BEHAVIOR PREDICTION USING MACHINE LEARNING</a:t>
            </a:r>
          </a:p>
        </p:txBody>
      </p:sp>
      <p:sp>
        <p:nvSpPr>
          <p:cNvPr name="TextBox 7" id="7"/>
          <p:cNvSpPr txBox="true"/>
          <p:nvPr/>
        </p:nvSpPr>
        <p:spPr>
          <a:xfrm rot="0">
            <a:off x="10132254" y="1925341"/>
            <a:ext cx="7739007" cy="8110096"/>
          </a:xfrm>
          <a:prstGeom prst="rect">
            <a:avLst/>
          </a:prstGeom>
        </p:spPr>
        <p:txBody>
          <a:bodyPr anchor="t" rtlCol="false" tIns="0" lIns="0" bIns="0" rIns="0">
            <a:spAutoFit/>
          </a:bodyPr>
          <a:lstStyle/>
          <a:p>
            <a:pPr algn="l">
              <a:lnSpc>
                <a:spcPts val="2800"/>
              </a:lnSpc>
            </a:pPr>
            <a:r>
              <a:rPr lang="en-US" sz="2000" spc="2">
                <a:solidFill>
                  <a:srgbClr val="000000"/>
                </a:solidFill>
                <a:latin typeface="Roboto"/>
                <a:ea typeface="Roboto"/>
                <a:cs typeface="Roboto"/>
                <a:sym typeface="Roboto"/>
              </a:rPr>
              <a:t>Performance Metrics:</a:t>
            </a:r>
          </a:p>
          <a:p>
            <a:pPr algn="l" marL="431801" indent="-215900" lvl="1">
              <a:lnSpc>
                <a:spcPts val="2800"/>
              </a:lnSpc>
              <a:buFont typeface="Arial"/>
              <a:buChar char="•"/>
            </a:pPr>
            <a:r>
              <a:rPr lang="en-US" sz="2000" spc="2">
                <a:solidFill>
                  <a:srgbClr val="000000"/>
                </a:solidFill>
                <a:latin typeface="Roboto"/>
                <a:ea typeface="Roboto"/>
                <a:cs typeface="Roboto"/>
                <a:sym typeface="Roboto"/>
              </a:rPr>
              <a:t>Accuracy: The high cross-validation accuracy of 94.13% indicates that the model is performing well overall, correctly predicting resignation or non-resignation in the vast majority of cases.</a:t>
            </a:r>
          </a:p>
          <a:p>
            <a:pPr algn="l" marL="431801" indent="-215900" lvl="1">
              <a:lnSpc>
                <a:spcPts val="2800"/>
              </a:lnSpc>
              <a:buFont typeface="Arial"/>
              <a:buChar char="•"/>
            </a:pPr>
            <a:r>
              <a:rPr lang="en-US" sz="2000" spc="2">
                <a:solidFill>
                  <a:srgbClr val="000000"/>
                </a:solidFill>
                <a:latin typeface="Roboto"/>
                <a:ea typeface="Roboto"/>
                <a:cs typeface="Roboto"/>
                <a:sym typeface="Roboto"/>
              </a:rPr>
              <a:t>Precision for Resignation Prediction: A precision of 1.0 (12/12) shows that when the model predicts an employee will resign, it is always correct. This is important in scenarios where false positives (predicting resignation when there is none) are costly, such as unnecessary retention efforts.</a:t>
            </a:r>
          </a:p>
          <a:p>
            <a:pPr algn="l" marL="431801" indent="-215900" lvl="1">
              <a:lnSpc>
                <a:spcPts val="2800"/>
              </a:lnSpc>
              <a:buFont typeface="Arial"/>
              <a:buChar char="•"/>
            </a:pPr>
            <a:r>
              <a:rPr lang="en-US" sz="2000" spc="2">
                <a:solidFill>
                  <a:srgbClr val="000000"/>
                </a:solidFill>
                <a:latin typeface="Roboto"/>
                <a:ea typeface="Roboto"/>
                <a:cs typeface="Roboto"/>
                <a:sym typeface="Roboto"/>
              </a:rPr>
              <a:t>Recall for Resignation Prediction: The recall of 0.67 (12/18) indicates that the model misses 33% of actual resignation cases. This is crucial since failing to predict actual resignations could mean the company loses valuable employees without any prior intervention.</a:t>
            </a:r>
          </a:p>
          <a:p>
            <a:pPr algn="l" marL="431801" indent="-215900" lvl="1">
              <a:lnSpc>
                <a:spcPts val="2800"/>
              </a:lnSpc>
              <a:buFont typeface="Arial"/>
              <a:buChar char="•"/>
            </a:pPr>
            <a:r>
              <a:rPr lang="en-US" sz="2000" spc="2">
                <a:solidFill>
                  <a:srgbClr val="000000"/>
                </a:solidFill>
                <a:latin typeface="Roboto"/>
                <a:ea typeface="Roboto"/>
                <a:cs typeface="Roboto"/>
                <a:sym typeface="Roboto"/>
              </a:rPr>
              <a:t>Specificity for Non-Resignation Prediction: A specificity of 1.0 shows that the model accurately identifies all employees who will not resign.</a:t>
            </a:r>
          </a:p>
          <a:p>
            <a:pPr algn="l">
              <a:lnSpc>
                <a:spcPts val="2800"/>
              </a:lnSpc>
            </a:pPr>
          </a:p>
          <a:p>
            <a:pPr algn="l">
              <a:lnSpc>
                <a:spcPts val="2800"/>
              </a:lnSpc>
              <a:spcBef>
                <a:spcPct val="0"/>
              </a:spcBef>
            </a:pPr>
            <a:r>
              <a:rPr lang="en-US" sz="2000" spc="2">
                <a:solidFill>
                  <a:srgbClr val="000000"/>
                </a:solidFill>
                <a:latin typeface="Roboto"/>
                <a:ea typeface="Roboto"/>
                <a:cs typeface="Roboto"/>
                <a:sym typeface="Roboto"/>
              </a:rPr>
              <a:t>The model is very reliable when it predicts that an employee will resign. This means you can trust the model's predictions in these cases and perhaps focus on retention strategies for these employees.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206472"/>
            <a:ext cx="9306249" cy="7357504"/>
          </a:xfrm>
          <a:custGeom>
            <a:avLst/>
            <a:gdLst/>
            <a:ahLst/>
            <a:cxnLst/>
            <a:rect r="r" b="b" t="t" l="l"/>
            <a:pathLst>
              <a:path h="7357504" w="9306249">
                <a:moveTo>
                  <a:pt x="0" y="0"/>
                </a:moveTo>
                <a:lnTo>
                  <a:pt x="9306249" y="0"/>
                </a:lnTo>
                <a:lnTo>
                  <a:pt x="9306249" y="7357504"/>
                </a:lnTo>
                <a:lnTo>
                  <a:pt x="0" y="7357504"/>
                </a:lnTo>
                <a:lnTo>
                  <a:pt x="0" y="0"/>
                </a:lnTo>
                <a:close/>
              </a:path>
            </a:pathLst>
          </a:custGeom>
          <a:blipFill>
            <a:blip r:embed="rId2"/>
            <a:stretch>
              <a:fillRect l="0" t="0" r="0" b="0"/>
            </a:stretch>
          </a:blipFill>
        </p:spPr>
      </p:sp>
      <p:sp>
        <p:nvSpPr>
          <p:cNvPr name="TextBox 6" id="6"/>
          <p:cNvSpPr txBox="true"/>
          <p:nvPr/>
        </p:nvSpPr>
        <p:spPr>
          <a:xfrm rot="0">
            <a:off x="1028700" y="512533"/>
            <a:ext cx="15967105" cy="1127583"/>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BUILDING AN AUTOMATED RESIGNATION BEHAVIOR PREDICTION USING MACHINE LEARNING</a:t>
            </a:r>
          </a:p>
        </p:txBody>
      </p:sp>
      <p:sp>
        <p:nvSpPr>
          <p:cNvPr name="TextBox 7" id="7"/>
          <p:cNvSpPr txBox="true"/>
          <p:nvPr/>
        </p:nvSpPr>
        <p:spPr>
          <a:xfrm rot="0">
            <a:off x="11031485" y="2560561"/>
            <a:ext cx="6423291" cy="6276975"/>
          </a:xfrm>
          <a:prstGeom prst="rect">
            <a:avLst/>
          </a:prstGeom>
        </p:spPr>
        <p:txBody>
          <a:bodyPr anchor="t" rtlCol="false" tIns="0" lIns="0" bIns="0" rIns="0">
            <a:spAutoFit/>
          </a:bodyPr>
          <a:lstStyle/>
          <a:p>
            <a:pPr algn="l">
              <a:lnSpc>
                <a:spcPts val="4199"/>
              </a:lnSpc>
            </a:pPr>
            <a:r>
              <a:rPr lang="en-US" sz="2999" spc="2">
                <a:solidFill>
                  <a:srgbClr val="000000"/>
                </a:solidFill>
                <a:latin typeface="Roboto"/>
                <a:ea typeface="Roboto"/>
                <a:cs typeface="Roboto"/>
                <a:sym typeface="Roboto"/>
              </a:rPr>
              <a:t>ROC curve dengan AUC sebesar 0.93 menunjukkan bahwa model memiliki performa yang sangat baik dalam membedakan antara kelas positif dan negatif. Model ini sangat efektif dalam memprediksi kelas dengan akurasi tinggi dan memiliki kemampuan diskriminasi yang kuat. Ini berarti model dapat diandalkan untuk aplikasi di mana klasifikasi yang tepat sangat penting.</a:t>
            </a:r>
          </a:p>
          <a:p>
            <a:pPr algn="l">
              <a:lnSpc>
                <a:spcPts val="419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82006" y="2636564"/>
            <a:ext cx="14458011" cy="6621736"/>
          </a:xfrm>
          <a:custGeom>
            <a:avLst/>
            <a:gdLst/>
            <a:ahLst/>
            <a:cxnLst/>
            <a:rect r="r" b="b" t="t" l="l"/>
            <a:pathLst>
              <a:path h="6621736" w="14458011">
                <a:moveTo>
                  <a:pt x="0" y="0"/>
                </a:moveTo>
                <a:lnTo>
                  <a:pt x="14458012" y="0"/>
                </a:lnTo>
                <a:lnTo>
                  <a:pt x="14458012" y="6621736"/>
                </a:lnTo>
                <a:lnTo>
                  <a:pt x="0" y="6621736"/>
                </a:lnTo>
                <a:lnTo>
                  <a:pt x="0" y="0"/>
                </a:lnTo>
                <a:close/>
              </a:path>
            </a:pathLst>
          </a:custGeom>
          <a:blipFill>
            <a:blip r:embed="rId2"/>
            <a:stretch>
              <a:fillRect l="0" t="0" r="0" b="0"/>
            </a:stretch>
          </a:blipFill>
        </p:spPr>
      </p:sp>
      <p:sp>
        <p:nvSpPr>
          <p:cNvPr name="TextBox 6" id="6"/>
          <p:cNvSpPr txBox="true"/>
          <p:nvPr/>
        </p:nvSpPr>
        <p:spPr>
          <a:xfrm rot="0">
            <a:off x="1160447" y="328945"/>
            <a:ext cx="15967105" cy="1127583"/>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PRESENTING MACHINE LEARNING PRODUCTS TO THE BUSINESS USERS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512533"/>
            <a:ext cx="15967105" cy="1127583"/>
          </a:xfrm>
          <a:prstGeom prst="rect">
            <a:avLst/>
          </a:prstGeom>
        </p:spPr>
        <p:txBody>
          <a:bodyPr anchor="t" rtlCol="false" tIns="0" lIns="0" bIns="0" rIns="0">
            <a:spAutoFit/>
          </a:bodyPr>
          <a:lstStyle/>
          <a:p>
            <a:pPr algn="ctr">
              <a:lnSpc>
                <a:spcPts val="4319"/>
              </a:lnSpc>
            </a:pPr>
            <a:r>
              <a:rPr lang="en-US" sz="4499">
                <a:solidFill>
                  <a:srgbClr val="FFFFFF"/>
                </a:solidFill>
                <a:latin typeface="Roca One"/>
                <a:ea typeface="Roca One"/>
                <a:cs typeface="Roca One"/>
                <a:sym typeface="Roca One"/>
              </a:rPr>
              <a:t>BUILDING AN AUTOMATED RESIGNATION BEHAVIOR PREDICTION USING MACHINE LEARNING</a:t>
            </a:r>
          </a:p>
        </p:txBody>
      </p:sp>
      <p:sp>
        <p:nvSpPr>
          <p:cNvPr name="TextBox 6" id="6"/>
          <p:cNvSpPr txBox="true"/>
          <p:nvPr/>
        </p:nvSpPr>
        <p:spPr>
          <a:xfrm rot="0">
            <a:off x="332912" y="1789424"/>
            <a:ext cx="17591579" cy="8677491"/>
          </a:xfrm>
          <a:prstGeom prst="rect">
            <a:avLst/>
          </a:prstGeom>
        </p:spPr>
        <p:txBody>
          <a:bodyPr anchor="t" rtlCol="false" tIns="0" lIns="0" bIns="0" rIns="0">
            <a:spAutoFit/>
          </a:bodyPr>
          <a:lstStyle/>
          <a:p>
            <a:pPr algn="l">
              <a:lnSpc>
                <a:spcPts val="3640"/>
              </a:lnSpc>
            </a:pPr>
            <a:r>
              <a:rPr lang="en-US" sz="2600" spc="2">
                <a:solidFill>
                  <a:srgbClr val="000000"/>
                </a:solidFill>
                <a:latin typeface="Roboto"/>
                <a:ea typeface="Roboto"/>
                <a:cs typeface="Roboto"/>
                <a:sym typeface="Roboto"/>
              </a:rPr>
              <a:t>In a large company like Kimia Farma, understanding the factors influencing employees’ decisions to resign and the platforms used for recruitment is crucial. By applying the Random Forest machine learning model, we analyzed employee data from 2020 to 2023 to uncover valuable insights that can assist the company in its human resource management strategies.</a:t>
            </a:r>
          </a:p>
          <a:p>
            <a:pPr algn="l">
              <a:lnSpc>
                <a:spcPts val="3640"/>
              </a:lnSpc>
            </a:pPr>
            <a:r>
              <a:rPr lang="en-US" sz="2600" spc="2">
                <a:solidFill>
                  <a:srgbClr val="000000"/>
                </a:solidFill>
                <a:latin typeface="Roboto"/>
                <a:ea typeface="Roboto"/>
                <a:cs typeface="Roboto"/>
                <a:sym typeface="Roboto"/>
              </a:rPr>
              <a:t>Findings:</a:t>
            </a:r>
          </a:p>
          <a:p>
            <a:pPr algn="l" marL="561341" indent="-280670" lvl="1">
              <a:lnSpc>
                <a:spcPts val="3640"/>
              </a:lnSpc>
              <a:buAutoNum type="arabicPeriod" startAt="1"/>
            </a:pPr>
            <a:r>
              <a:rPr lang="en-US" b="true" sz="2600" spc="2">
                <a:solidFill>
                  <a:srgbClr val="000000"/>
                </a:solidFill>
                <a:latin typeface="Roboto Bold"/>
                <a:ea typeface="Roboto Bold"/>
                <a:cs typeface="Roboto Bold"/>
                <a:sym typeface="Roboto Bold"/>
              </a:rPr>
              <a:t>Feature Importance:</a:t>
            </a:r>
          </a:p>
          <a:p>
            <a:pPr algn="l" marL="1122681" indent="-374227" lvl="2">
              <a:lnSpc>
                <a:spcPts val="3640"/>
              </a:lnSpc>
              <a:buFont typeface="Arial"/>
              <a:buChar char="⚬"/>
            </a:pPr>
            <a:r>
              <a:rPr lang="en-US" b="true" sz="2600" spc="2">
                <a:solidFill>
                  <a:srgbClr val="000000"/>
                </a:solidFill>
                <a:latin typeface="Roboto Bold"/>
                <a:ea typeface="Roboto Bold"/>
                <a:cs typeface="Roboto Bold"/>
                <a:sym typeface="Roboto Bold"/>
              </a:rPr>
              <a:t>Reason for Resignation</a:t>
            </a:r>
            <a:r>
              <a:rPr lang="en-US" sz="2600" spc="2">
                <a:solidFill>
                  <a:srgbClr val="000000"/>
                </a:solidFill>
                <a:latin typeface="Roboto"/>
                <a:ea typeface="Roboto"/>
                <a:cs typeface="Roboto"/>
                <a:sym typeface="Roboto"/>
              </a:rPr>
              <a:t>: This factor is</a:t>
            </a:r>
            <a:r>
              <a:rPr lang="en-US" b="true" sz="2600" spc="2">
                <a:solidFill>
                  <a:srgbClr val="000000"/>
                </a:solidFill>
                <a:latin typeface="Roboto Bold"/>
                <a:ea typeface="Roboto Bold"/>
                <a:cs typeface="Roboto Bold"/>
                <a:sym typeface="Roboto Bold"/>
              </a:rPr>
              <a:t> the most critical determinant in employees' decisions to resign</a:t>
            </a:r>
            <a:r>
              <a:rPr lang="en-US" sz="2600" spc="2">
                <a:solidFill>
                  <a:srgbClr val="000000"/>
                </a:solidFill>
                <a:latin typeface="Roboto"/>
                <a:ea typeface="Roboto"/>
                <a:cs typeface="Roboto"/>
                <a:sym typeface="Roboto"/>
              </a:rPr>
              <a:t>. Therefore,</a:t>
            </a:r>
            <a:r>
              <a:rPr lang="en-US" b="true" sz="2600" spc="2">
                <a:solidFill>
                  <a:srgbClr val="000000"/>
                </a:solidFill>
                <a:latin typeface="Roboto Bold"/>
                <a:ea typeface="Roboto Bold"/>
                <a:cs typeface="Roboto Bold"/>
                <a:sym typeface="Roboto Bold"/>
              </a:rPr>
              <a:t> the company needs to deeply understand</a:t>
            </a:r>
            <a:r>
              <a:rPr lang="en-US" sz="2600" spc="2">
                <a:solidFill>
                  <a:srgbClr val="000000"/>
                </a:solidFill>
                <a:latin typeface="Roboto"/>
                <a:ea typeface="Roboto"/>
                <a:cs typeface="Roboto"/>
                <a:sym typeface="Roboto"/>
              </a:rPr>
              <a:t> these reasons </a:t>
            </a:r>
            <a:r>
              <a:rPr lang="en-US" b="true" sz="2600" spc="2">
                <a:solidFill>
                  <a:srgbClr val="000000"/>
                </a:solidFill>
                <a:latin typeface="Roboto Bold"/>
                <a:ea typeface="Roboto Bold"/>
                <a:cs typeface="Roboto Bold"/>
                <a:sym typeface="Roboto Bold"/>
              </a:rPr>
              <a:t>to improve the work environmen</a:t>
            </a:r>
            <a:r>
              <a:rPr lang="en-US" sz="2600" spc="2">
                <a:solidFill>
                  <a:srgbClr val="000000"/>
                </a:solidFill>
                <a:latin typeface="Roboto"/>
                <a:ea typeface="Roboto"/>
                <a:cs typeface="Roboto"/>
                <a:sym typeface="Roboto"/>
              </a:rPr>
              <a:t>t and </a:t>
            </a:r>
            <a:r>
              <a:rPr lang="en-US" b="true" sz="2600" spc="2">
                <a:solidFill>
                  <a:srgbClr val="000000"/>
                </a:solidFill>
                <a:latin typeface="Roboto Bold"/>
                <a:ea typeface="Roboto Bold"/>
                <a:cs typeface="Roboto Bold"/>
                <a:sym typeface="Roboto Bold"/>
              </a:rPr>
              <a:t>reduce employee turnover</a:t>
            </a:r>
            <a:r>
              <a:rPr lang="en-US" sz="2600" spc="2">
                <a:solidFill>
                  <a:srgbClr val="000000"/>
                </a:solidFill>
                <a:latin typeface="Roboto"/>
                <a:ea typeface="Roboto"/>
                <a:cs typeface="Roboto"/>
                <a:sym typeface="Roboto"/>
              </a:rPr>
              <a:t>.</a:t>
            </a:r>
          </a:p>
          <a:p>
            <a:pPr algn="l" marL="561341" indent="-280670" lvl="1">
              <a:lnSpc>
                <a:spcPts val="3640"/>
              </a:lnSpc>
              <a:buAutoNum type="arabicPeriod" startAt="1"/>
            </a:pPr>
            <a:r>
              <a:rPr lang="en-US" b="true" sz="2600" spc="2">
                <a:solidFill>
                  <a:srgbClr val="000000"/>
                </a:solidFill>
                <a:latin typeface="Roboto Bold"/>
                <a:ea typeface="Roboto Bold"/>
                <a:cs typeface="Roboto Bold"/>
                <a:sym typeface="Roboto Bold"/>
              </a:rPr>
              <a:t>Other Influential Factors:</a:t>
            </a:r>
          </a:p>
          <a:p>
            <a:pPr algn="l" marL="1122681" indent="-374227" lvl="2">
              <a:lnSpc>
                <a:spcPts val="3640"/>
              </a:lnSpc>
              <a:buFont typeface="Arial"/>
              <a:buChar char="⚬"/>
            </a:pPr>
            <a:r>
              <a:rPr lang="en-US" b="true" sz="2600" spc="2">
                <a:solidFill>
                  <a:srgbClr val="000000"/>
                </a:solidFill>
                <a:latin typeface="Roboto Bold"/>
                <a:ea typeface="Roboto Bold"/>
                <a:cs typeface="Roboto Bold"/>
                <a:sym typeface="Roboto Bold"/>
              </a:rPr>
              <a:t>Absenteeism:</a:t>
            </a:r>
            <a:r>
              <a:rPr lang="en-US" sz="2600" spc="2">
                <a:solidFill>
                  <a:srgbClr val="000000"/>
                </a:solidFill>
                <a:latin typeface="Roboto"/>
                <a:ea typeface="Roboto"/>
                <a:cs typeface="Roboto"/>
                <a:sym typeface="Roboto"/>
              </a:rPr>
              <a:t> High absenteeism can be an </a:t>
            </a:r>
            <a:r>
              <a:rPr lang="en-US" b="true" sz="2600" spc="2">
                <a:solidFill>
                  <a:srgbClr val="000000"/>
                </a:solidFill>
                <a:latin typeface="Roboto Bold"/>
                <a:ea typeface="Roboto Bold"/>
                <a:cs typeface="Roboto Bold"/>
                <a:sym typeface="Roboto Bold"/>
              </a:rPr>
              <a:t>indication of dissatisfaction</a:t>
            </a:r>
            <a:r>
              <a:rPr lang="en-US" sz="2600" spc="2">
                <a:solidFill>
                  <a:srgbClr val="000000"/>
                </a:solidFill>
                <a:latin typeface="Roboto"/>
                <a:ea typeface="Roboto"/>
                <a:cs typeface="Roboto"/>
                <a:sym typeface="Roboto"/>
              </a:rPr>
              <a:t> or other issues that drive employees to resign.</a:t>
            </a:r>
          </a:p>
          <a:p>
            <a:pPr algn="l" marL="1122681" indent="-374227" lvl="2">
              <a:lnSpc>
                <a:spcPts val="3640"/>
              </a:lnSpc>
              <a:buFont typeface="Arial"/>
              <a:buChar char="⚬"/>
            </a:pPr>
            <a:r>
              <a:rPr lang="en-US" b="true" sz="2600" spc="2">
                <a:solidFill>
                  <a:srgbClr val="000000"/>
                </a:solidFill>
                <a:latin typeface="Roboto Bold"/>
                <a:ea typeface="Roboto Bold"/>
                <a:cs typeface="Roboto Bold"/>
                <a:sym typeface="Roboto Bold"/>
              </a:rPr>
              <a:t>Employee Performance:</a:t>
            </a:r>
            <a:r>
              <a:rPr lang="en-US" sz="2600" spc="2">
                <a:solidFill>
                  <a:srgbClr val="000000"/>
                </a:solidFill>
                <a:latin typeface="Roboto"/>
                <a:ea typeface="Roboto"/>
                <a:cs typeface="Roboto"/>
                <a:sym typeface="Roboto"/>
              </a:rPr>
              <a:t> </a:t>
            </a:r>
            <a:r>
              <a:rPr lang="en-US" b="true" sz="2600" spc="2">
                <a:solidFill>
                  <a:srgbClr val="000000"/>
                </a:solidFill>
                <a:latin typeface="Roboto Bold"/>
                <a:ea typeface="Roboto Bold"/>
                <a:cs typeface="Roboto Bold"/>
                <a:sym typeface="Roboto Bold"/>
              </a:rPr>
              <a:t>Low performance</a:t>
            </a:r>
            <a:r>
              <a:rPr lang="en-US" sz="2600" spc="2">
                <a:solidFill>
                  <a:srgbClr val="000000"/>
                </a:solidFill>
                <a:latin typeface="Roboto"/>
                <a:ea typeface="Roboto"/>
                <a:cs typeface="Roboto"/>
                <a:sym typeface="Roboto"/>
              </a:rPr>
              <a:t> can </a:t>
            </a:r>
            <a:r>
              <a:rPr lang="en-US" b="true" sz="2600" spc="2">
                <a:solidFill>
                  <a:srgbClr val="000000"/>
                </a:solidFill>
                <a:latin typeface="Roboto Bold"/>
                <a:ea typeface="Roboto Bold"/>
                <a:cs typeface="Roboto Bold"/>
                <a:sym typeface="Roboto Bold"/>
              </a:rPr>
              <a:t>contribute to the decision to resign</a:t>
            </a:r>
            <a:r>
              <a:rPr lang="en-US" sz="2600" spc="2">
                <a:solidFill>
                  <a:srgbClr val="000000"/>
                </a:solidFill>
                <a:latin typeface="Roboto"/>
                <a:ea typeface="Roboto"/>
                <a:cs typeface="Roboto"/>
                <a:sym typeface="Roboto"/>
              </a:rPr>
              <a:t>, whether due to lack of motivation or pressure from unmet targets.</a:t>
            </a:r>
          </a:p>
          <a:p>
            <a:pPr algn="l" marL="1122681" indent="-374227" lvl="2">
              <a:lnSpc>
                <a:spcPts val="3640"/>
              </a:lnSpc>
              <a:buFont typeface="Arial"/>
              <a:buChar char="⚬"/>
            </a:pPr>
            <a:r>
              <a:rPr lang="en-US" b="true" sz="2600" spc="2">
                <a:solidFill>
                  <a:srgbClr val="000000"/>
                </a:solidFill>
                <a:latin typeface="Roboto Bold"/>
                <a:ea typeface="Roboto Bold"/>
                <a:cs typeface="Roboto Bold"/>
                <a:sym typeface="Roboto Bold"/>
              </a:rPr>
              <a:t>Engagement Survey Scores:</a:t>
            </a:r>
            <a:r>
              <a:rPr lang="en-US" sz="2600" spc="2">
                <a:solidFill>
                  <a:srgbClr val="000000"/>
                </a:solidFill>
                <a:latin typeface="Roboto"/>
                <a:ea typeface="Roboto"/>
                <a:cs typeface="Roboto"/>
                <a:sym typeface="Roboto"/>
              </a:rPr>
              <a:t> </a:t>
            </a:r>
            <a:r>
              <a:rPr lang="en-US" b="true" sz="2600" spc="2">
                <a:solidFill>
                  <a:srgbClr val="000000"/>
                </a:solidFill>
                <a:latin typeface="Roboto Bold"/>
                <a:ea typeface="Roboto Bold"/>
                <a:cs typeface="Roboto Bold"/>
                <a:sym typeface="Roboto Bold"/>
              </a:rPr>
              <a:t>Low engagement scores reflect a lack of involvement with the company</a:t>
            </a:r>
            <a:r>
              <a:rPr lang="en-US" sz="2600" spc="2">
                <a:solidFill>
                  <a:srgbClr val="000000"/>
                </a:solidFill>
                <a:latin typeface="Roboto"/>
                <a:ea typeface="Roboto"/>
                <a:cs typeface="Roboto"/>
                <a:sym typeface="Roboto"/>
              </a:rPr>
              <a:t>, often leading to resignation.</a:t>
            </a:r>
          </a:p>
          <a:p>
            <a:pPr algn="l" marL="1122681" indent="-374227" lvl="2">
              <a:lnSpc>
                <a:spcPts val="3640"/>
              </a:lnSpc>
              <a:buFont typeface="Arial"/>
              <a:buChar char="⚬"/>
            </a:pPr>
            <a:r>
              <a:rPr lang="en-US" b="true" sz="2600" spc="2">
                <a:solidFill>
                  <a:srgbClr val="000000"/>
                </a:solidFill>
                <a:latin typeface="Roboto Bold"/>
                <a:ea typeface="Roboto Bold"/>
                <a:cs typeface="Roboto Bold"/>
                <a:sym typeface="Roboto Bold"/>
              </a:rPr>
              <a:t>Employee Satisfaction Scores:</a:t>
            </a:r>
            <a:r>
              <a:rPr lang="en-US" sz="2600" spc="2">
                <a:solidFill>
                  <a:srgbClr val="000000"/>
                </a:solidFill>
                <a:latin typeface="Roboto"/>
                <a:ea typeface="Roboto"/>
                <a:cs typeface="Roboto"/>
                <a:sym typeface="Roboto"/>
              </a:rPr>
              <a:t> Low satisfaction can </a:t>
            </a:r>
            <a:r>
              <a:rPr lang="en-US" b="true" sz="2600" spc="2">
                <a:solidFill>
                  <a:srgbClr val="000000"/>
                </a:solidFill>
                <a:latin typeface="Roboto Bold"/>
                <a:ea typeface="Roboto Bold"/>
                <a:cs typeface="Roboto Bold"/>
                <a:sym typeface="Roboto Bold"/>
              </a:rPr>
              <a:t>indicate dissatisfaction with the work environment, management, or career opportunities.</a:t>
            </a:r>
          </a:p>
          <a:p>
            <a:pPr algn="l">
              <a:lnSpc>
                <a:spcPts val="364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550633"/>
            <a:ext cx="15967105" cy="713569"/>
          </a:xfrm>
          <a:prstGeom prst="rect">
            <a:avLst/>
          </a:prstGeom>
        </p:spPr>
        <p:txBody>
          <a:bodyPr anchor="t" rtlCol="false" tIns="0" lIns="0" bIns="0" rIns="0">
            <a:spAutoFit/>
          </a:bodyPr>
          <a:lstStyle/>
          <a:p>
            <a:pPr algn="ctr">
              <a:lnSpc>
                <a:spcPts val="5376"/>
              </a:lnSpc>
            </a:pPr>
            <a:r>
              <a:rPr lang="en-US" sz="5600">
                <a:solidFill>
                  <a:srgbClr val="FFFFFF"/>
                </a:solidFill>
                <a:latin typeface="Roca One"/>
                <a:ea typeface="Roca One"/>
                <a:cs typeface="Roca One"/>
                <a:sym typeface="Roca One"/>
              </a:rPr>
              <a:t>BUSINESS RECOMMENDATIONS</a:t>
            </a:r>
          </a:p>
        </p:txBody>
      </p:sp>
      <p:sp>
        <p:nvSpPr>
          <p:cNvPr name="TextBox 6" id="6"/>
          <p:cNvSpPr txBox="true"/>
          <p:nvPr/>
        </p:nvSpPr>
        <p:spPr>
          <a:xfrm rot="0">
            <a:off x="348211" y="1839539"/>
            <a:ext cx="17591579" cy="8682848"/>
          </a:xfrm>
          <a:prstGeom prst="rect">
            <a:avLst/>
          </a:prstGeom>
        </p:spPr>
        <p:txBody>
          <a:bodyPr anchor="t" rtlCol="false" tIns="0" lIns="0" bIns="0" rIns="0">
            <a:spAutoFit/>
          </a:bodyPr>
          <a:lstStyle/>
          <a:p>
            <a:pPr algn="l">
              <a:lnSpc>
                <a:spcPts val="4340"/>
              </a:lnSpc>
            </a:pPr>
            <a:r>
              <a:rPr lang="en-US" sz="3100" spc="3" b="true">
                <a:solidFill>
                  <a:srgbClr val="000000"/>
                </a:solidFill>
                <a:latin typeface="Roboto Bold"/>
                <a:ea typeface="Roboto Bold"/>
                <a:cs typeface="Roboto Bold"/>
                <a:sym typeface="Roboto Bold"/>
              </a:rPr>
              <a:t>Targeted Employee Engagement:</a:t>
            </a:r>
          </a:p>
          <a:p>
            <a:pPr algn="l" marL="669291" indent="-334646" lvl="1">
              <a:lnSpc>
                <a:spcPts val="4340"/>
              </a:lnSpc>
              <a:buFont typeface="Arial"/>
              <a:buChar char="•"/>
            </a:pPr>
            <a:r>
              <a:rPr lang="en-US" sz="3100" spc="3">
                <a:solidFill>
                  <a:srgbClr val="000000"/>
                </a:solidFill>
                <a:latin typeface="Roboto"/>
                <a:ea typeface="Roboto"/>
                <a:cs typeface="Roboto"/>
                <a:sym typeface="Roboto"/>
              </a:rPr>
              <a:t>High-Risk Roles: Focus on roles identified</a:t>
            </a:r>
            <a:r>
              <a:rPr lang="en-US" sz="3100" spc="3">
                <a:solidFill>
                  <a:srgbClr val="000000"/>
                </a:solidFill>
                <a:latin typeface="Roboto"/>
                <a:ea typeface="Roboto"/>
                <a:cs typeface="Roboto"/>
                <a:sym typeface="Roboto"/>
              </a:rPr>
              <a:t> as </a:t>
            </a:r>
            <a:r>
              <a:rPr lang="en-US" sz="3100" spc="3">
                <a:solidFill>
                  <a:srgbClr val="000000"/>
                </a:solidFill>
                <a:latin typeface="Roboto"/>
                <a:ea typeface="Roboto"/>
                <a:cs typeface="Roboto"/>
                <a:sym typeface="Roboto"/>
              </a:rPr>
              <a:t>h</a:t>
            </a:r>
            <a:r>
              <a:rPr lang="en-US" sz="3100" spc="3">
                <a:solidFill>
                  <a:srgbClr val="000000"/>
                </a:solidFill>
                <a:latin typeface="Roboto"/>
                <a:ea typeface="Roboto"/>
                <a:cs typeface="Roboto"/>
                <a:sym typeface="Roboto"/>
              </a:rPr>
              <a:t>ig</a:t>
            </a:r>
            <a:r>
              <a:rPr lang="en-US" sz="3100" spc="3">
                <a:solidFill>
                  <a:srgbClr val="000000"/>
                </a:solidFill>
                <a:latin typeface="Roboto"/>
                <a:ea typeface="Roboto"/>
                <a:cs typeface="Roboto"/>
                <a:sym typeface="Roboto"/>
              </a:rPr>
              <a:t>h-risk for r</a:t>
            </a:r>
            <a:r>
              <a:rPr lang="en-US" sz="3100" spc="3">
                <a:solidFill>
                  <a:srgbClr val="000000"/>
                </a:solidFill>
                <a:latin typeface="Roboto"/>
                <a:ea typeface="Roboto"/>
                <a:cs typeface="Roboto"/>
                <a:sym typeface="Roboto"/>
              </a:rPr>
              <a:t>esi</a:t>
            </a:r>
            <a:r>
              <a:rPr lang="en-US" sz="3100" spc="3">
                <a:solidFill>
                  <a:srgbClr val="000000"/>
                </a:solidFill>
                <a:latin typeface="Roboto"/>
                <a:ea typeface="Roboto"/>
                <a:cs typeface="Roboto"/>
                <a:sym typeface="Roboto"/>
              </a:rPr>
              <a:t>g</a:t>
            </a:r>
            <a:r>
              <a:rPr lang="en-US" sz="3100" spc="3">
                <a:solidFill>
                  <a:srgbClr val="000000"/>
                </a:solidFill>
                <a:latin typeface="Roboto"/>
                <a:ea typeface="Roboto"/>
                <a:cs typeface="Roboto"/>
                <a:sym typeface="Roboto"/>
              </a:rPr>
              <a:t>nation</a:t>
            </a:r>
            <a:r>
              <a:rPr lang="en-US" sz="3100" spc="3">
                <a:solidFill>
                  <a:srgbClr val="000000"/>
                </a:solidFill>
                <a:latin typeface="Roboto"/>
                <a:ea typeface="Roboto"/>
                <a:cs typeface="Roboto"/>
                <a:sym typeface="Roboto"/>
              </a:rPr>
              <a:t>,</a:t>
            </a:r>
            <a:r>
              <a:rPr lang="en-US" sz="3100" spc="3">
                <a:solidFill>
                  <a:srgbClr val="000000"/>
                </a:solidFill>
                <a:latin typeface="Roboto"/>
                <a:ea typeface="Roboto"/>
                <a:cs typeface="Roboto"/>
                <a:sym typeface="Roboto"/>
              </a:rPr>
              <a:t> su</a:t>
            </a:r>
            <a:r>
              <a:rPr lang="en-US" sz="3100" spc="3">
                <a:solidFill>
                  <a:srgbClr val="000000"/>
                </a:solidFill>
                <a:latin typeface="Roboto"/>
                <a:ea typeface="Roboto"/>
                <a:cs typeface="Roboto"/>
                <a:sym typeface="Roboto"/>
              </a:rPr>
              <a:t>ch as S</a:t>
            </a:r>
            <a:r>
              <a:rPr lang="en-US" sz="3100" spc="3">
                <a:solidFill>
                  <a:srgbClr val="000000"/>
                </a:solidFill>
                <a:latin typeface="Roboto"/>
                <a:ea typeface="Roboto"/>
                <a:cs typeface="Roboto"/>
                <a:sym typeface="Roboto"/>
              </a:rPr>
              <a:t>o</a:t>
            </a:r>
            <a:r>
              <a:rPr lang="en-US" sz="3100" spc="3">
                <a:solidFill>
                  <a:srgbClr val="000000"/>
                </a:solidFill>
                <a:latin typeface="Roboto"/>
                <a:ea typeface="Roboto"/>
                <a:cs typeface="Roboto"/>
                <a:sym typeface="Roboto"/>
              </a:rPr>
              <a:t>f</a:t>
            </a:r>
            <a:r>
              <a:rPr lang="en-US" sz="3100" spc="3">
                <a:solidFill>
                  <a:srgbClr val="000000"/>
                </a:solidFill>
                <a:latin typeface="Roboto"/>
                <a:ea typeface="Roboto"/>
                <a:cs typeface="Roboto"/>
                <a:sym typeface="Roboto"/>
              </a:rPr>
              <a:t>tw</a:t>
            </a:r>
            <a:r>
              <a:rPr lang="en-US" sz="3100" spc="3">
                <a:solidFill>
                  <a:srgbClr val="000000"/>
                </a:solidFill>
                <a:latin typeface="Roboto"/>
                <a:ea typeface="Roboto"/>
                <a:cs typeface="Roboto"/>
                <a:sym typeface="Roboto"/>
              </a:rPr>
              <a:t>a</a:t>
            </a:r>
            <a:r>
              <a:rPr lang="en-US" sz="3100" spc="3">
                <a:solidFill>
                  <a:srgbClr val="000000"/>
                </a:solidFill>
                <a:latin typeface="Roboto"/>
                <a:ea typeface="Roboto"/>
                <a:cs typeface="Roboto"/>
                <a:sym typeface="Roboto"/>
              </a:rPr>
              <a:t>re </a:t>
            </a:r>
            <a:r>
              <a:rPr lang="en-US" sz="3100" spc="3">
                <a:solidFill>
                  <a:srgbClr val="000000"/>
                </a:solidFill>
                <a:latin typeface="Roboto"/>
                <a:ea typeface="Roboto"/>
                <a:cs typeface="Roboto"/>
                <a:sym typeface="Roboto"/>
              </a:rPr>
              <a:t>E</a:t>
            </a:r>
            <a:r>
              <a:rPr lang="en-US" sz="3100" spc="3">
                <a:solidFill>
                  <a:srgbClr val="000000"/>
                </a:solidFill>
                <a:latin typeface="Roboto"/>
                <a:ea typeface="Roboto"/>
                <a:cs typeface="Roboto"/>
                <a:sym typeface="Roboto"/>
              </a:rPr>
              <a:t>n</a:t>
            </a:r>
            <a:r>
              <a:rPr lang="en-US" sz="3100" spc="3">
                <a:solidFill>
                  <a:srgbClr val="000000"/>
                </a:solidFill>
                <a:latin typeface="Roboto"/>
                <a:ea typeface="Roboto"/>
                <a:cs typeface="Roboto"/>
                <a:sym typeface="Roboto"/>
              </a:rPr>
              <a:t>gineers. Imple</a:t>
            </a:r>
            <a:r>
              <a:rPr lang="en-US" sz="3100" spc="3">
                <a:solidFill>
                  <a:srgbClr val="000000"/>
                </a:solidFill>
                <a:latin typeface="Roboto"/>
                <a:ea typeface="Roboto"/>
                <a:cs typeface="Roboto"/>
                <a:sym typeface="Roboto"/>
              </a:rPr>
              <a:t>men</a:t>
            </a:r>
            <a:r>
              <a:rPr lang="en-US" sz="3100" spc="3">
                <a:solidFill>
                  <a:srgbClr val="000000"/>
                </a:solidFill>
                <a:latin typeface="Roboto"/>
                <a:ea typeface="Roboto"/>
                <a:cs typeface="Roboto"/>
                <a:sym typeface="Roboto"/>
              </a:rPr>
              <a:t>t</a:t>
            </a:r>
            <a:r>
              <a:rPr lang="en-US" sz="3100" spc="3">
                <a:solidFill>
                  <a:srgbClr val="000000"/>
                </a:solidFill>
                <a:latin typeface="Roboto"/>
                <a:ea typeface="Roboto"/>
                <a:cs typeface="Roboto"/>
                <a:sym typeface="Roboto"/>
              </a:rPr>
              <a:t> per</a:t>
            </a:r>
            <a:r>
              <a:rPr lang="en-US" sz="3100" spc="3">
                <a:solidFill>
                  <a:srgbClr val="000000"/>
                </a:solidFill>
                <a:latin typeface="Roboto"/>
                <a:ea typeface="Roboto"/>
                <a:cs typeface="Roboto"/>
                <a:sym typeface="Roboto"/>
              </a:rPr>
              <a:t>s</a:t>
            </a:r>
            <a:r>
              <a:rPr lang="en-US" sz="3100" spc="3">
                <a:solidFill>
                  <a:srgbClr val="000000"/>
                </a:solidFill>
                <a:latin typeface="Roboto"/>
                <a:ea typeface="Roboto"/>
                <a:cs typeface="Roboto"/>
                <a:sym typeface="Roboto"/>
              </a:rPr>
              <a:t>on</a:t>
            </a:r>
            <a:r>
              <a:rPr lang="en-US" sz="3100" spc="3">
                <a:solidFill>
                  <a:srgbClr val="000000"/>
                </a:solidFill>
                <a:latin typeface="Roboto"/>
                <a:ea typeface="Roboto"/>
                <a:cs typeface="Roboto"/>
                <a:sym typeface="Roboto"/>
              </a:rPr>
              <a:t>al</a:t>
            </a:r>
            <a:r>
              <a:rPr lang="en-US" sz="3100" spc="3">
                <a:solidFill>
                  <a:srgbClr val="000000"/>
                </a:solidFill>
                <a:latin typeface="Roboto"/>
                <a:ea typeface="Roboto"/>
                <a:cs typeface="Roboto"/>
                <a:sym typeface="Roboto"/>
              </a:rPr>
              <a:t>i</a:t>
            </a:r>
            <a:r>
              <a:rPr lang="en-US" sz="3100" spc="3">
                <a:solidFill>
                  <a:srgbClr val="000000"/>
                </a:solidFill>
                <a:latin typeface="Roboto"/>
                <a:ea typeface="Roboto"/>
                <a:cs typeface="Roboto"/>
                <a:sym typeface="Roboto"/>
              </a:rPr>
              <a:t>z</a:t>
            </a:r>
            <a:r>
              <a:rPr lang="en-US" sz="3100" spc="3">
                <a:solidFill>
                  <a:srgbClr val="000000"/>
                </a:solidFill>
                <a:latin typeface="Roboto"/>
                <a:ea typeface="Roboto"/>
                <a:cs typeface="Roboto"/>
                <a:sym typeface="Roboto"/>
              </a:rPr>
              <a:t>ed engagement </a:t>
            </a:r>
            <a:r>
              <a:rPr lang="en-US" sz="3100" spc="3">
                <a:solidFill>
                  <a:srgbClr val="000000"/>
                </a:solidFill>
                <a:latin typeface="Roboto"/>
                <a:ea typeface="Roboto"/>
                <a:cs typeface="Roboto"/>
                <a:sym typeface="Roboto"/>
              </a:rPr>
              <a:t>p</a:t>
            </a:r>
            <a:r>
              <a:rPr lang="en-US" sz="3100" spc="3">
                <a:solidFill>
                  <a:srgbClr val="000000"/>
                </a:solidFill>
                <a:latin typeface="Roboto"/>
                <a:ea typeface="Roboto"/>
                <a:cs typeface="Roboto"/>
                <a:sym typeface="Roboto"/>
              </a:rPr>
              <a:t>rog</a:t>
            </a:r>
            <a:r>
              <a:rPr lang="en-US" sz="3100" spc="3">
                <a:solidFill>
                  <a:srgbClr val="000000"/>
                </a:solidFill>
                <a:latin typeface="Roboto"/>
                <a:ea typeface="Roboto"/>
                <a:cs typeface="Roboto"/>
                <a:sym typeface="Roboto"/>
              </a:rPr>
              <a:t>r</a:t>
            </a:r>
            <a:r>
              <a:rPr lang="en-US" sz="3100" spc="3">
                <a:solidFill>
                  <a:srgbClr val="000000"/>
                </a:solidFill>
                <a:latin typeface="Roboto"/>
                <a:ea typeface="Roboto"/>
                <a:cs typeface="Roboto"/>
                <a:sym typeface="Roboto"/>
              </a:rPr>
              <a:t>ams</a:t>
            </a:r>
            <a:r>
              <a:rPr lang="en-US" sz="3100" spc="3">
                <a:solidFill>
                  <a:srgbClr val="000000"/>
                </a:solidFill>
                <a:latin typeface="Roboto"/>
                <a:ea typeface="Roboto"/>
                <a:cs typeface="Roboto"/>
                <a:sym typeface="Roboto"/>
              </a:rPr>
              <a:t>,</a:t>
            </a:r>
            <a:r>
              <a:rPr lang="en-US" sz="3100" spc="3">
                <a:solidFill>
                  <a:srgbClr val="000000"/>
                </a:solidFill>
                <a:latin typeface="Roboto"/>
                <a:ea typeface="Roboto"/>
                <a:cs typeface="Roboto"/>
                <a:sym typeface="Roboto"/>
              </a:rPr>
              <a:t> l</a:t>
            </a:r>
            <a:r>
              <a:rPr lang="en-US" sz="3100" spc="3">
                <a:solidFill>
                  <a:srgbClr val="000000"/>
                </a:solidFill>
                <a:latin typeface="Roboto"/>
                <a:ea typeface="Roboto"/>
                <a:cs typeface="Roboto"/>
                <a:sym typeface="Roboto"/>
              </a:rPr>
              <a:t>i</a:t>
            </a:r>
            <a:r>
              <a:rPr lang="en-US" sz="3100" spc="3">
                <a:solidFill>
                  <a:srgbClr val="000000"/>
                </a:solidFill>
                <a:latin typeface="Roboto"/>
                <a:ea typeface="Roboto"/>
                <a:cs typeface="Roboto"/>
                <a:sym typeface="Roboto"/>
              </a:rPr>
              <a:t>ke </a:t>
            </a:r>
            <a:r>
              <a:rPr lang="en-US" sz="3100" spc="3">
                <a:solidFill>
                  <a:srgbClr val="000000"/>
                </a:solidFill>
                <a:latin typeface="Roboto"/>
                <a:ea typeface="Roboto"/>
                <a:cs typeface="Roboto"/>
                <a:sym typeface="Roboto"/>
              </a:rPr>
              <a:t>s</a:t>
            </a:r>
            <a:r>
              <a:rPr lang="en-US" sz="3100" spc="3">
                <a:solidFill>
                  <a:srgbClr val="000000"/>
                </a:solidFill>
                <a:latin typeface="Roboto"/>
                <a:ea typeface="Roboto"/>
                <a:cs typeface="Roboto"/>
                <a:sym typeface="Roboto"/>
              </a:rPr>
              <a:t>t</a:t>
            </a:r>
            <a:r>
              <a:rPr lang="en-US" sz="3100" spc="3">
                <a:solidFill>
                  <a:srgbClr val="000000"/>
                </a:solidFill>
                <a:latin typeface="Roboto"/>
                <a:ea typeface="Roboto"/>
                <a:cs typeface="Roboto"/>
                <a:sym typeface="Roboto"/>
              </a:rPr>
              <a:t>r</a:t>
            </a:r>
            <a:r>
              <a:rPr lang="en-US" sz="3100" spc="3">
                <a:solidFill>
                  <a:srgbClr val="000000"/>
                </a:solidFill>
                <a:latin typeface="Roboto"/>
                <a:ea typeface="Roboto"/>
                <a:cs typeface="Roboto"/>
                <a:sym typeface="Roboto"/>
              </a:rPr>
              <a:t>e</a:t>
            </a:r>
            <a:r>
              <a:rPr lang="en-US" sz="3100" spc="3">
                <a:solidFill>
                  <a:srgbClr val="000000"/>
                </a:solidFill>
                <a:latin typeface="Roboto"/>
                <a:ea typeface="Roboto"/>
                <a:cs typeface="Roboto"/>
                <a:sym typeface="Roboto"/>
              </a:rPr>
              <a:t>ss</a:t>
            </a:r>
            <a:r>
              <a:rPr lang="en-US" sz="3100" spc="3">
                <a:solidFill>
                  <a:srgbClr val="000000"/>
                </a:solidFill>
                <a:latin typeface="Roboto"/>
                <a:ea typeface="Roboto"/>
                <a:cs typeface="Roboto"/>
                <a:sym typeface="Roboto"/>
              </a:rPr>
              <a:t> man</a:t>
            </a:r>
            <a:r>
              <a:rPr lang="en-US" sz="3100" spc="3">
                <a:solidFill>
                  <a:srgbClr val="000000"/>
                </a:solidFill>
                <a:latin typeface="Roboto"/>
                <a:ea typeface="Roboto"/>
                <a:cs typeface="Roboto"/>
                <a:sym typeface="Roboto"/>
              </a:rPr>
              <a:t>age</a:t>
            </a:r>
            <a:r>
              <a:rPr lang="en-US" sz="3100" spc="3">
                <a:solidFill>
                  <a:srgbClr val="000000"/>
                </a:solidFill>
                <a:latin typeface="Roboto"/>
                <a:ea typeface="Roboto"/>
                <a:cs typeface="Roboto"/>
                <a:sym typeface="Roboto"/>
              </a:rPr>
              <a:t>me</a:t>
            </a:r>
            <a:r>
              <a:rPr lang="en-US" sz="3100" spc="3">
                <a:solidFill>
                  <a:srgbClr val="000000"/>
                </a:solidFill>
                <a:latin typeface="Roboto"/>
                <a:ea typeface="Roboto"/>
                <a:cs typeface="Roboto"/>
                <a:sym typeface="Roboto"/>
              </a:rPr>
              <a:t>n</a:t>
            </a:r>
            <a:r>
              <a:rPr lang="en-US" sz="3100" spc="3">
                <a:solidFill>
                  <a:srgbClr val="000000"/>
                </a:solidFill>
                <a:latin typeface="Roboto"/>
                <a:ea typeface="Roboto"/>
                <a:cs typeface="Roboto"/>
                <a:sym typeface="Roboto"/>
              </a:rPr>
              <a:t>t </a:t>
            </a:r>
            <a:r>
              <a:rPr lang="en-US" sz="3100" spc="3">
                <a:solidFill>
                  <a:srgbClr val="000000"/>
                </a:solidFill>
                <a:latin typeface="Roboto"/>
                <a:ea typeface="Roboto"/>
                <a:cs typeface="Roboto"/>
                <a:sym typeface="Roboto"/>
              </a:rPr>
              <a:t>w</a:t>
            </a:r>
            <a:r>
              <a:rPr lang="en-US" sz="3100" spc="3">
                <a:solidFill>
                  <a:srgbClr val="000000"/>
                </a:solidFill>
                <a:latin typeface="Roboto"/>
                <a:ea typeface="Roboto"/>
                <a:cs typeface="Roboto"/>
                <a:sym typeface="Roboto"/>
              </a:rPr>
              <a:t>or</a:t>
            </a:r>
            <a:r>
              <a:rPr lang="en-US" sz="3100" spc="3">
                <a:solidFill>
                  <a:srgbClr val="000000"/>
                </a:solidFill>
                <a:latin typeface="Roboto"/>
                <a:ea typeface="Roboto"/>
                <a:cs typeface="Roboto"/>
                <a:sym typeface="Roboto"/>
              </a:rPr>
              <a:t>k</a:t>
            </a:r>
            <a:r>
              <a:rPr lang="en-US" sz="3100" spc="3">
                <a:solidFill>
                  <a:srgbClr val="000000"/>
                </a:solidFill>
                <a:latin typeface="Roboto"/>
                <a:ea typeface="Roboto"/>
                <a:cs typeface="Roboto"/>
                <a:sym typeface="Roboto"/>
              </a:rPr>
              <a:t>s</a:t>
            </a:r>
            <a:r>
              <a:rPr lang="en-US" sz="3100" spc="3">
                <a:solidFill>
                  <a:srgbClr val="000000"/>
                </a:solidFill>
                <a:latin typeface="Roboto"/>
                <a:ea typeface="Roboto"/>
                <a:cs typeface="Roboto"/>
                <a:sym typeface="Roboto"/>
              </a:rPr>
              <a:t>hops a</a:t>
            </a:r>
            <a:r>
              <a:rPr lang="en-US" sz="3100" spc="3">
                <a:solidFill>
                  <a:srgbClr val="000000"/>
                </a:solidFill>
                <a:latin typeface="Roboto"/>
                <a:ea typeface="Roboto"/>
                <a:cs typeface="Roboto"/>
                <a:sym typeface="Roboto"/>
              </a:rPr>
              <a:t>nd f</a:t>
            </a:r>
            <a:r>
              <a:rPr lang="en-US" sz="3100" spc="3">
                <a:solidFill>
                  <a:srgbClr val="000000"/>
                </a:solidFill>
                <a:latin typeface="Roboto"/>
                <a:ea typeface="Roboto"/>
                <a:cs typeface="Roboto"/>
                <a:sym typeface="Roboto"/>
              </a:rPr>
              <a:t>lex</a:t>
            </a:r>
            <a:r>
              <a:rPr lang="en-US" sz="3100" spc="3">
                <a:solidFill>
                  <a:srgbClr val="000000"/>
                </a:solidFill>
                <a:latin typeface="Roboto"/>
                <a:ea typeface="Roboto"/>
                <a:cs typeface="Roboto"/>
                <a:sym typeface="Roboto"/>
              </a:rPr>
              <a:t>i</a:t>
            </a:r>
            <a:r>
              <a:rPr lang="en-US" sz="3100" spc="3">
                <a:solidFill>
                  <a:srgbClr val="000000"/>
                </a:solidFill>
                <a:latin typeface="Roboto"/>
                <a:ea typeface="Roboto"/>
                <a:cs typeface="Roboto"/>
                <a:sym typeface="Roboto"/>
              </a:rPr>
              <a:t>bl</a:t>
            </a:r>
            <a:r>
              <a:rPr lang="en-US" sz="3100" spc="3">
                <a:solidFill>
                  <a:srgbClr val="000000"/>
                </a:solidFill>
                <a:latin typeface="Roboto"/>
                <a:ea typeface="Roboto"/>
                <a:cs typeface="Roboto"/>
                <a:sym typeface="Roboto"/>
              </a:rPr>
              <a:t>e work </a:t>
            </a:r>
            <a:r>
              <a:rPr lang="en-US" sz="3100" spc="3">
                <a:solidFill>
                  <a:srgbClr val="000000"/>
                </a:solidFill>
                <a:latin typeface="Roboto"/>
                <a:ea typeface="Roboto"/>
                <a:cs typeface="Roboto"/>
                <a:sym typeface="Roboto"/>
              </a:rPr>
              <a:t>ar</a:t>
            </a:r>
            <a:r>
              <a:rPr lang="en-US" sz="3100" spc="3">
                <a:solidFill>
                  <a:srgbClr val="000000"/>
                </a:solidFill>
                <a:latin typeface="Roboto"/>
                <a:ea typeface="Roboto"/>
                <a:cs typeface="Roboto"/>
                <a:sym typeface="Roboto"/>
              </a:rPr>
              <a:t>rangement</a:t>
            </a:r>
            <a:r>
              <a:rPr lang="en-US" sz="3100" spc="3">
                <a:solidFill>
                  <a:srgbClr val="000000"/>
                </a:solidFill>
                <a:latin typeface="Roboto"/>
                <a:ea typeface="Roboto"/>
                <a:cs typeface="Roboto"/>
                <a:sym typeface="Roboto"/>
              </a:rPr>
              <a:t>s</a:t>
            </a:r>
            <a:r>
              <a:rPr lang="en-US" sz="3100" spc="3">
                <a:solidFill>
                  <a:srgbClr val="000000"/>
                </a:solidFill>
                <a:latin typeface="Roboto"/>
                <a:ea typeface="Roboto"/>
                <a:cs typeface="Roboto"/>
                <a:sym typeface="Roboto"/>
              </a:rPr>
              <a:t>, </a:t>
            </a:r>
            <a:r>
              <a:rPr lang="en-US" sz="3100" spc="3">
                <a:solidFill>
                  <a:srgbClr val="000000"/>
                </a:solidFill>
                <a:latin typeface="Roboto"/>
                <a:ea typeface="Roboto"/>
                <a:cs typeface="Roboto"/>
                <a:sym typeface="Roboto"/>
              </a:rPr>
              <a:t>t</a:t>
            </a:r>
            <a:r>
              <a:rPr lang="en-US" sz="3100" spc="3">
                <a:solidFill>
                  <a:srgbClr val="000000"/>
                </a:solidFill>
                <a:latin typeface="Roboto"/>
                <a:ea typeface="Roboto"/>
                <a:cs typeface="Roboto"/>
                <a:sym typeface="Roboto"/>
              </a:rPr>
              <a:t>o re</a:t>
            </a:r>
            <a:r>
              <a:rPr lang="en-US" sz="3100" spc="3">
                <a:solidFill>
                  <a:srgbClr val="000000"/>
                </a:solidFill>
                <a:latin typeface="Roboto"/>
                <a:ea typeface="Roboto"/>
                <a:cs typeface="Roboto"/>
                <a:sym typeface="Roboto"/>
              </a:rPr>
              <a:t>duc</a:t>
            </a:r>
            <a:r>
              <a:rPr lang="en-US" sz="3100" spc="3">
                <a:solidFill>
                  <a:srgbClr val="000000"/>
                </a:solidFill>
                <a:latin typeface="Roboto"/>
                <a:ea typeface="Roboto"/>
                <a:cs typeface="Roboto"/>
                <a:sym typeface="Roboto"/>
              </a:rPr>
              <a:t>e tu</a:t>
            </a:r>
            <a:r>
              <a:rPr lang="en-US" sz="3100" spc="3">
                <a:solidFill>
                  <a:srgbClr val="000000"/>
                </a:solidFill>
                <a:latin typeface="Roboto"/>
                <a:ea typeface="Roboto"/>
                <a:cs typeface="Roboto"/>
                <a:sym typeface="Roboto"/>
              </a:rPr>
              <a:t>r</a:t>
            </a:r>
            <a:r>
              <a:rPr lang="en-US" sz="3100" spc="3">
                <a:solidFill>
                  <a:srgbClr val="000000"/>
                </a:solidFill>
                <a:latin typeface="Roboto"/>
                <a:ea typeface="Roboto"/>
                <a:cs typeface="Roboto"/>
                <a:sym typeface="Roboto"/>
              </a:rPr>
              <a:t>n</a:t>
            </a:r>
            <a:r>
              <a:rPr lang="en-US" sz="3100" spc="3">
                <a:solidFill>
                  <a:srgbClr val="000000"/>
                </a:solidFill>
                <a:latin typeface="Roboto"/>
                <a:ea typeface="Roboto"/>
                <a:cs typeface="Roboto"/>
                <a:sym typeface="Roboto"/>
              </a:rPr>
              <a:t>ov</a:t>
            </a:r>
            <a:r>
              <a:rPr lang="en-US" sz="3100" spc="3">
                <a:solidFill>
                  <a:srgbClr val="000000"/>
                </a:solidFill>
                <a:latin typeface="Roboto"/>
                <a:ea typeface="Roboto"/>
                <a:cs typeface="Roboto"/>
                <a:sym typeface="Roboto"/>
              </a:rPr>
              <a:t>e</a:t>
            </a:r>
            <a:r>
              <a:rPr lang="en-US" sz="3100" spc="3">
                <a:solidFill>
                  <a:srgbClr val="000000"/>
                </a:solidFill>
                <a:latin typeface="Roboto"/>
                <a:ea typeface="Roboto"/>
                <a:cs typeface="Roboto"/>
                <a:sym typeface="Roboto"/>
              </a:rPr>
              <a:t>r</a:t>
            </a:r>
            <a:r>
              <a:rPr lang="en-US" sz="3100" spc="3">
                <a:solidFill>
                  <a:srgbClr val="000000"/>
                </a:solidFill>
                <a:latin typeface="Roboto"/>
                <a:ea typeface="Roboto"/>
                <a:cs typeface="Roboto"/>
                <a:sym typeface="Roboto"/>
              </a:rPr>
              <a:t>.</a:t>
            </a:r>
          </a:p>
          <a:p>
            <a:pPr algn="l">
              <a:lnSpc>
                <a:spcPts val="4340"/>
              </a:lnSpc>
            </a:pPr>
            <a:r>
              <a:rPr lang="en-US" sz="3100" spc="3" b="true">
                <a:solidFill>
                  <a:srgbClr val="000000"/>
                </a:solidFill>
                <a:latin typeface="Roboto Bold"/>
                <a:ea typeface="Roboto Bold"/>
                <a:cs typeface="Roboto Bold"/>
                <a:sym typeface="Roboto Bold"/>
              </a:rPr>
              <a:t>Career Development Opportunities:</a:t>
            </a:r>
          </a:p>
          <a:p>
            <a:pPr algn="l" marL="669291" indent="-334646" lvl="1">
              <a:lnSpc>
                <a:spcPts val="4340"/>
              </a:lnSpc>
              <a:buFont typeface="Arial"/>
              <a:buChar char="•"/>
            </a:pPr>
            <a:r>
              <a:rPr lang="en-US" sz="3100" spc="3">
                <a:solidFill>
                  <a:srgbClr val="000000"/>
                </a:solidFill>
                <a:latin typeface="Roboto"/>
                <a:ea typeface="Roboto"/>
                <a:cs typeface="Roboto"/>
                <a:sym typeface="Roboto"/>
              </a:rPr>
              <a:t>Growth-Oriented Roles: For positions like Product Design and Data Analysts, introduce clear career development paths and opportunities for creative projects to keep employees motivated and reduce the likelihood of them seeking opportunities elsewhere.</a:t>
            </a:r>
          </a:p>
          <a:p>
            <a:pPr algn="l">
              <a:lnSpc>
                <a:spcPts val="4340"/>
              </a:lnSpc>
            </a:pPr>
            <a:r>
              <a:rPr lang="en-US" sz="3100" spc="3" b="true">
                <a:solidFill>
                  <a:srgbClr val="000000"/>
                </a:solidFill>
                <a:latin typeface="Roboto Bold"/>
                <a:ea typeface="Roboto Bold"/>
                <a:cs typeface="Roboto Bold"/>
                <a:sym typeface="Roboto Bold"/>
              </a:rPr>
              <a:t>Work-Life Balance:</a:t>
            </a:r>
          </a:p>
          <a:p>
            <a:pPr algn="l" marL="669291" indent="-334646" lvl="1">
              <a:lnSpc>
                <a:spcPts val="4340"/>
              </a:lnSpc>
              <a:buFont typeface="Arial"/>
              <a:buChar char="•"/>
            </a:pPr>
            <a:r>
              <a:rPr lang="en-US" sz="3100" spc="3">
                <a:solidFill>
                  <a:srgbClr val="000000"/>
                </a:solidFill>
                <a:latin typeface="Roboto"/>
                <a:ea typeface="Roboto"/>
                <a:cs typeface="Roboto"/>
                <a:sym typeface="Roboto"/>
              </a:rPr>
              <a:t>Key Drivers: Address work-life balance concerns, especially in roles with higher workload demands. Offer flexible scheduling or remote work options where possible to increase job satisfaction and reduce resignation rates.</a:t>
            </a:r>
          </a:p>
          <a:p>
            <a:pPr algn="l" marL="669291" indent="-334646" lvl="1">
              <a:lnSpc>
                <a:spcPts val="4340"/>
              </a:lnSpc>
              <a:buFont typeface="Arial"/>
              <a:buChar char="•"/>
            </a:pPr>
            <a:r>
              <a:rPr lang="en-US" sz="3100" spc="3">
                <a:solidFill>
                  <a:srgbClr val="000000"/>
                </a:solidFill>
                <a:latin typeface="Roboto"/>
                <a:ea typeface="Roboto"/>
                <a:cs typeface="Roboto"/>
                <a:sym typeface="Roboto"/>
              </a:rPr>
              <a:t>Introduce a free gym membership program to promote physical and mental well-being. Providing access to fitness facilities encourages employees to maintain a healthy lifestyle, further enhancing their overall work-life balance and commitment to the company.</a:t>
            </a:r>
          </a:p>
          <a:p>
            <a:pPr algn="l">
              <a:lnSpc>
                <a:spcPts val="434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DAE9FF"/>
        </a:solidFill>
      </p:bgPr>
    </p:bg>
    <p:spTree>
      <p:nvGrpSpPr>
        <p:cNvPr id="1" name=""/>
        <p:cNvGrpSpPr/>
        <p:nvPr/>
      </p:nvGrpSpPr>
      <p:grpSpPr>
        <a:xfrm>
          <a:off x="0" y="0"/>
          <a:ext cx="0" cy="0"/>
          <a:chOff x="0" y="0"/>
          <a:chExt cx="0" cy="0"/>
        </a:xfrm>
      </p:grpSpPr>
      <p:grpSp>
        <p:nvGrpSpPr>
          <p:cNvPr name="Group 2" id="2"/>
          <p:cNvGrpSpPr/>
          <p:nvPr/>
        </p:nvGrpSpPr>
        <p:grpSpPr>
          <a:xfrm rot="0">
            <a:off x="-361272" y="-620353"/>
            <a:ext cx="19344569" cy="2384786"/>
            <a:chOff x="0" y="0"/>
            <a:chExt cx="4356256" cy="537036"/>
          </a:xfrm>
        </p:grpSpPr>
        <p:sp>
          <p:nvSpPr>
            <p:cNvPr name="Freeform 3" id="3"/>
            <p:cNvSpPr/>
            <p:nvPr/>
          </p:nvSpPr>
          <p:spPr>
            <a:xfrm flipH="false" flipV="false" rot="0">
              <a:off x="0" y="0"/>
              <a:ext cx="4356255" cy="537036"/>
            </a:xfrm>
            <a:custGeom>
              <a:avLst/>
              <a:gdLst/>
              <a:ahLst/>
              <a:cxnLst/>
              <a:rect r="r" b="b" t="t" l="l"/>
              <a:pathLst>
                <a:path h="537036" w="4356255">
                  <a:moveTo>
                    <a:pt x="0" y="0"/>
                  </a:moveTo>
                  <a:lnTo>
                    <a:pt x="4356255" y="0"/>
                  </a:lnTo>
                  <a:lnTo>
                    <a:pt x="4356255" y="537036"/>
                  </a:lnTo>
                  <a:lnTo>
                    <a:pt x="0" y="537036"/>
                  </a:lnTo>
                  <a:close/>
                </a:path>
              </a:pathLst>
            </a:custGeom>
            <a:solidFill>
              <a:srgbClr val="31356E"/>
            </a:solidFill>
          </p:spPr>
        </p:sp>
        <p:sp>
          <p:nvSpPr>
            <p:cNvPr name="TextBox 4" id="4"/>
            <p:cNvSpPr txBox="true"/>
            <p:nvPr/>
          </p:nvSpPr>
          <p:spPr>
            <a:xfrm>
              <a:off x="0" y="-38100"/>
              <a:ext cx="4356256" cy="57513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550633"/>
            <a:ext cx="15967105" cy="713569"/>
          </a:xfrm>
          <a:prstGeom prst="rect">
            <a:avLst/>
          </a:prstGeom>
        </p:spPr>
        <p:txBody>
          <a:bodyPr anchor="t" rtlCol="false" tIns="0" lIns="0" bIns="0" rIns="0">
            <a:spAutoFit/>
          </a:bodyPr>
          <a:lstStyle/>
          <a:p>
            <a:pPr algn="ctr">
              <a:lnSpc>
                <a:spcPts val="5376"/>
              </a:lnSpc>
            </a:pPr>
            <a:r>
              <a:rPr lang="en-US" sz="5600">
                <a:solidFill>
                  <a:srgbClr val="FFFFFF"/>
                </a:solidFill>
                <a:latin typeface="Roca One"/>
                <a:ea typeface="Roca One"/>
                <a:cs typeface="Roca One"/>
                <a:sym typeface="Roca One"/>
              </a:rPr>
              <a:t>BUSINESS RECOMMENDATIONS</a:t>
            </a:r>
          </a:p>
        </p:txBody>
      </p:sp>
      <p:sp>
        <p:nvSpPr>
          <p:cNvPr name="TextBox 6" id="6"/>
          <p:cNvSpPr txBox="true"/>
          <p:nvPr/>
        </p:nvSpPr>
        <p:spPr>
          <a:xfrm rot="0">
            <a:off x="216463" y="1450667"/>
            <a:ext cx="17591579" cy="6737826"/>
          </a:xfrm>
          <a:prstGeom prst="rect">
            <a:avLst/>
          </a:prstGeom>
        </p:spPr>
        <p:txBody>
          <a:bodyPr anchor="t" rtlCol="false" tIns="0" lIns="0" bIns="0" rIns="0">
            <a:spAutoFit/>
          </a:bodyPr>
          <a:lstStyle/>
          <a:p>
            <a:pPr algn="l">
              <a:lnSpc>
                <a:spcPts val="4480"/>
              </a:lnSpc>
            </a:pPr>
            <a:r>
              <a:rPr lang="en-US" sz="3200" spc="3" b="true">
                <a:solidFill>
                  <a:srgbClr val="000000"/>
                </a:solidFill>
                <a:latin typeface="Roboto Bold"/>
                <a:ea typeface="Roboto Bold"/>
                <a:cs typeface="Roboto Bold"/>
                <a:sym typeface="Roboto Bold"/>
              </a:rPr>
              <a:t>Continuous Monitoring:</a:t>
            </a:r>
          </a:p>
          <a:p>
            <a:pPr algn="l" marL="690881" indent="-345440" lvl="1">
              <a:lnSpc>
                <a:spcPts val="4480"/>
              </a:lnSpc>
              <a:buFont typeface="Arial"/>
              <a:buChar char="•"/>
            </a:pPr>
            <a:r>
              <a:rPr lang="en-US" sz="3200" spc="3">
                <a:solidFill>
                  <a:srgbClr val="000000"/>
                </a:solidFill>
                <a:latin typeface="Roboto"/>
                <a:ea typeface="Roboto"/>
                <a:cs typeface="Roboto"/>
                <a:sym typeface="Roboto"/>
              </a:rPr>
              <a:t>Proactive Measures: Use the predictive model to continuously monitor employee resignation risk. This allows HR to take proactive measures before employees reach the point of resignation.</a:t>
            </a:r>
          </a:p>
          <a:p>
            <a:pPr algn="l">
              <a:lnSpc>
                <a:spcPts val="4480"/>
              </a:lnSpc>
            </a:pPr>
            <a:r>
              <a:rPr lang="en-US" sz="3200" spc="3" b="true">
                <a:solidFill>
                  <a:srgbClr val="000000"/>
                </a:solidFill>
                <a:latin typeface="Roboto Bold"/>
                <a:ea typeface="Roboto Bold"/>
                <a:cs typeface="Roboto Bold"/>
                <a:sym typeface="Roboto Bold"/>
              </a:rPr>
              <a:t>Employee Feedback Mechanisms:</a:t>
            </a:r>
          </a:p>
          <a:p>
            <a:pPr algn="l" marL="690881" indent="-345440" lvl="1">
              <a:lnSpc>
                <a:spcPts val="4480"/>
              </a:lnSpc>
              <a:buFont typeface="Arial"/>
              <a:buChar char="•"/>
            </a:pPr>
            <a:r>
              <a:rPr lang="en-US" sz="3200" spc="3">
                <a:solidFill>
                  <a:srgbClr val="000000"/>
                </a:solidFill>
                <a:latin typeface="Roboto"/>
                <a:ea typeface="Roboto"/>
                <a:cs typeface="Roboto"/>
                <a:sym typeface="Roboto"/>
              </a:rPr>
              <a:t>Data-Driven Insights: Regularly collect and analyze employee feedback to understand the underlying reasons behind potential resignations. This feedback should be used to refine the predictive model and improve the accuracy of future predictions.</a:t>
            </a:r>
          </a:p>
          <a:p>
            <a:pPr algn="l">
              <a:lnSpc>
                <a:spcPts val="4480"/>
              </a:lnSpc>
            </a:pPr>
          </a:p>
          <a:p>
            <a:pPr algn="l">
              <a:lnSpc>
                <a:spcPts val="4480"/>
              </a:lnSpc>
            </a:pPr>
          </a:p>
          <a:p>
            <a:pPr algn="l">
              <a:lnSpc>
                <a:spcPts val="4480"/>
              </a:lnSpc>
            </a:pPr>
          </a:p>
          <a:p>
            <a:pPr algn="l">
              <a:lnSpc>
                <a:spcPts val="448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DAGO31Kfwk4</dc:identifier>
  <dcterms:modified xsi:type="dcterms:W3CDTF">2011-08-01T06:04:30Z</dcterms:modified>
  <cp:revision>1</cp:revision>
  <dc:title>Improving Employee Retention by Predicting Employee Attrition Using Machine Learning</dc:title>
</cp:coreProperties>
</file>